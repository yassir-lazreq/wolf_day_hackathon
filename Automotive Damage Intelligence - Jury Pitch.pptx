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Welcome. We built an Automotive Damage Intelligence system: it turns 1,000 real, unstructured German workshop notes into validated, visual, and measurable repair data. Say it once, clearly,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The problem: workshops write free text, full of German shorthand and abbreviations. Nobody can compare cases, spot patterns, or see the damage — it's all buried in paragraphs. That's the gap we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Our approach in four steps: Read the original note as-is. Understand what's damaged, where, and how bad — but only what the text actually supports. Visualize it on a real 3D car model. Reveal patterns across all cases. Say each word as you point to the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This is the part the jury cares about most: trust. We never let the AI invent anything. It must show evidence from the real text, every answer is checked by strict rules before it's used, and we measure accuracy against verified, known-correct cases. This is not "just an LLM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Now the visual payoff: on the 3D model, damaged parts light up, nearby connected-but-intact parts are shown in their own color so we never overstate damage, and anyone can understand a case at a glance instead of reading German text. (Show the live demo here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Zoom out to all 1,000 cases: which parts break most, how severe the overall workload is, where cases get stuck, and how reliable the whole system is — all computed directly from the data, never invented by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Close strong: faster estimates, consistent decisions, and a system that scales trust across a thousand cases instead of one at a time. Thank the jury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9692640" y="-1005840"/>
            <a:ext cx="3840480" cy="3840480"/>
          </a:xfrm>
          <a:prstGeom prst="ellipse">
            <a:avLst/>
          </a:prstGeom>
          <a:solidFill>
            <a:srgbClr val="3E5C76"/>
          </a:solidFill>
          <a:ln/>
        </p:spPr>
      </p:sp>
      <p:sp>
        <p:nvSpPr>
          <p:cNvPr id="3" name="Shape 1"/>
          <p:cNvSpPr/>
          <p:nvPr/>
        </p:nvSpPr>
        <p:spPr>
          <a:xfrm>
            <a:off x="10698480" y="4206240"/>
            <a:ext cx="2377440" cy="2377440"/>
          </a:xfrm>
          <a:prstGeom prst="ellipse">
            <a:avLst/>
          </a:prstGeom>
          <a:solidFill>
            <a:srgbClr val="3E5C76"/>
          </a:solidFill>
          <a:ln/>
        </p:spPr>
      </p:sp>
      <p:sp>
        <p:nvSpPr>
          <p:cNvPr id="4" name="Shape 2"/>
          <p:cNvSpPr/>
          <p:nvPr/>
        </p:nvSpPr>
        <p:spPr>
          <a:xfrm>
            <a:off x="10561320" y="640080"/>
            <a:ext cx="1371600" cy="1371600"/>
          </a:xfrm>
          <a:prstGeom prst="ellipse">
            <a:avLst/>
          </a:prstGeom>
          <a:solidFill>
            <a:srgbClr val="F4A100"/>
          </a:solidFill>
          <a:ln/>
        </p:spPr>
      </p:sp>
      <p:pic>
        <p:nvPicPr>
          <p:cNvPr id="5" name="Image 0" descr="/home/claude/deck/icons/car_steel.png">    </p:cNvPr>
          <p:cNvPicPr>
            <a:picLocks noChangeAspect="1"/>
          </p:cNvPicPr>
          <p:nvPr/>
        </p:nvPicPr>
        <p:blipFill>
          <a:blip r:embed="rId1"/>
          <a:stretch>
            <a:fillRect/>
          </a:stretch>
        </p:blipFill>
        <p:spPr>
          <a:xfrm>
            <a:off x="10835640" y="914400"/>
            <a:ext cx="822960" cy="822960"/>
          </a:xfrm>
          <a:prstGeom prst="rect">
            <a:avLst/>
          </a:prstGeom>
        </p:spPr>
      </p:pic>
      <p:sp>
        <p:nvSpPr>
          <p:cNvPr id="6" name="Text 3"/>
          <p:cNvSpPr/>
          <p:nvPr/>
        </p:nvSpPr>
        <p:spPr>
          <a:xfrm>
            <a:off x="731520" y="2331720"/>
            <a:ext cx="9692640" cy="457200"/>
          </a:xfrm>
          <a:prstGeom prst="rect">
            <a:avLst/>
          </a:prstGeom>
          <a:noFill/>
          <a:ln/>
        </p:spPr>
        <p:txBody>
          <a:bodyPr wrap="square" lIns="0" tIns="0" rIns="0" bIns="0" rtlCol="0" anchor="ctr"/>
          <a:lstStyle/>
          <a:p>
            <a:pPr indent="0" marL="0">
              <a:buNone/>
            </a:pPr>
            <a:r>
              <a:rPr lang="en-US" sz="1400" b="1" spc="200" kern="0" dirty="0">
                <a:solidFill>
                  <a:srgbClr val="F4A100"/>
                </a:solidFill>
                <a:latin typeface="Calibri" pitchFamily="34" charset="0"/>
                <a:ea typeface="Calibri" pitchFamily="34" charset="-122"/>
                <a:cs typeface="Calibri" pitchFamily="34" charset="-120"/>
              </a:rPr>
              <a:t>AUTOMOTIVE DAMAGE INTELLIGENCE</a:t>
            </a:r>
            <a:endParaRPr lang="en-US" sz="1400" dirty="0"/>
          </a:p>
        </p:txBody>
      </p:sp>
      <p:sp>
        <p:nvSpPr>
          <p:cNvPr id="7" name="Text 4"/>
          <p:cNvSpPr/>
          <p:nvPr/>
        </p:nvSpPr>
        <p:spPr>
          <a:xfrm>
            <a:off x="731520" y="2788920"/>
            <a:ext cx="9875520" cy="182880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From handwritten workshop notes</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to smart 3D repair insights</a:t>
            </a:r>
            <a:endParaRPr lang="en-US" sz="4000" dirty="0"/>
          </a:p>
        </p:txBody>
      </p:sp>
      <p:sp>
        <p:nvSpPr>
          <p:cNvPr id="8" name="Text 5"/>
          <p:cNvSpPr/>
          <p:nvPr/>
        </p:nvSpPr>
        <p:spPr>
          <a:xfrm>
            <a:off x="731520" y="4526280"/>
            <a:ext cx="8778240" cy="822960"/>
          </a:xfrm>
          <a:prstGeom prst="rect">
            <a:avLst/>
          </a:prstGeom>
          <a:noFill/>
          <a:ln/>
        </p:spPr>
        <p:txBody>
          <a:bodyPr wrap="square" lIns="0" tIns="0" rIns="0" bIns="0" rtlCol="0" anchor="ctr"/>
          <a:lstStyle/>
          <a:p>
            <a:pPr indent="0" marL="0">
              <a:lnSpc>
                <a:spcPct val="120000"/>
              </a:lnSpc>
              <a:buNone/>
            </a:pPr>
            <a:r>
              <a:rPr lang="en-US" sz="1500" dirty="0">
                <a:solidFill>
                  <a:srgbClr val="C7D0D8"/>
                </a:solidFill>
                <a:latin typeface="Calibri" pitchFamily="34" charset="0"/>
                <a:ea typeface="Calibri" pitchFamily="34" charset="-122"/>
                <a:cs typeface="Calibri" pitchFamily="34" charset="-120"/>
              </a:rPr>
              <a:t>Turning 1,000 real, unstructured German damage reports into validated,</a:t>
            </a:r>
            <a:endParaRPr lang="en-US" sz="1500" dirty="0"/>
          </a:p>
          <a:p>
            <a:pPr indent="0" marL="0">
              <a:lnSpc>
                <a:spcPct val="120000"/>
              </a:lnSpc>
              <a:buNone/>
            </a:pPr>
            <a:r>
              <a:rPr lang="en-US" sz="1500" dirty="0">
                <a:solidFill>
                  <a:srgbClr val="C7D0D8"/>
                </a:solidFill>
                <a:latin typeface="Calibri" pitchFamily="34" charset="0"/>
                <a:ea typeface="Calibri" pitchFamily="34" charset="-122"/>
                <a:cs typeface="Calibri" pitchFamily="34" charset="-120"/>
              </a:rPr>
              <a:t>visual, and measurable repair intelligence.</a:t>
            </a:r>
            <a:endParaRPr lang="en-US" sz="1500" dirty="0"/>
          </a:p>
        </p:txBody>
      </p:sp>
      <p:sp>
        <p:nvSpPr>
          <p:cNvPr id="9" name="Text 6"/>
          <p:cNvSpPr/>
          <p:nvPr/>
        </p:nvSpPr>
        <p:spPr>
          <a:xfrm>
            <a:off x="731520" y="6080760"/>
            <a:ext cx="5486400" cy="365760"/>
          </a:xfrm>
          <a:prstGeom prst="rect">
            <a:avLst/>
          </a:prstGeom>
          <a:noFill/>
          <a:ln/>
        </p:spPr>
        <p:txBody>
          <a:bodyPr wrap="square" lIns="0" tIns="0" rIns="0" bIns="0" rtlCol="0" anchor="ctr"/>
          <a:lstStyle/>
          <a:p>
            <a:pPr indent="0" marL="0">
              <a:buNone/>
            </a:pPr>
            <a:r>
              <a:rPr lang="en-US" sz="1200" dirty="0">
                <a:solidFill>
                  <a:srgbClr val="8A98A5"/>
                </a:solidFill>
                <a:latin typeface="Calibri" pitchFamily="34" charset="0"/>
                <a:ea typeface="Calibri" pitchFamily="34" charset="-122"/>
                <a:cs typeface="Calibri" pitchFamily="34" charset="-120"/>
              </a:rPr>
              <a:t>UIC DAIL Hackathon  ·  Track 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777240"/>
            <a:ext cx="7315200" cy="1371600"/>
          </a:xfrm>
          <a:prstGeom prst="rect">
            <a:avLst/>
          </a:prstGeom>
          <a:noFill/>
          <a:ln/>
        </p:spPr>
        <p:txBody>
          <a:bodyPr wrap="square" lIns="0" tIns="0" rIns="0" bIns="0" rtlCol="0" anchor="ctr"/>
          <a:lstStyle/>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1,000 damage reports.</a:t>
            </a:r>
            <a:endParaRPr lang="en-US" sz="3000" dirty="0"/>
          </a:p>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Written in free German text. No structure at all.</a:t>
            </a:r>
            <a:endParaRPr lang="en-US" sz="3000" dirty="0"/>
          </a:p>
        </p:txBody>
      </p:sp>
      <p:sp>
        <p:nvSpPr>
          <p:cNvPr id="4" name="Shape 2"/>
          <p:cNvSpPr/>
          <p:nvPr/>
        </p:nvSpPr>
        <p:spPr>
          <a:xfrm>
            <a:off x="548640" y="2514600"/>
            <a:ext cx="512064" cy="512064"/>
          </a:xfrm>
          <a:prstGeom prst="ellipse">
            <a:avLst/>
          </a:prstGeom>
          <a:solidFill>
            <a:srgbClr val="F2F4F6"/>
          </a:solidFill>
          <a:ln/>
        </p:spPr>
      </p:sp>
      <p:pic>
        <p:nvPicPr>
          <p:cNvPr id="5" name="Image 0" descr="/home/claude/deck/icons/note_steel.png">    </p:cNvPr>
          <p:cNvPicPr>
            <a:picLocks noChangeAspect="1"/>
          </p:cNvPicPr>
          <p:nvPr/>
        </p:nvPicPr>
        <p:blipFill>
          <a:blip r:embed="rId1"/>
          <a:stretch>
            <a:fillRect/>
          </a:stretch>
        </p:blipFill>
        <p:spPr>
          <a:xfrm>
            <a:off x="663854" y="2629814"/>
            <a:ext cx="281635" cy="281635"/>
          </a:xfrm>
          <a:prstGeom prst="rect">
            <a:avLst/>
          </a:prstGeom>
        </p:spPr>
      </p:pic>
      <p:sp>
        <p:nvSpPr>
          <p:cNvPr id="6" name="Text 3"/>
          <p:cNvSpPr/>
          <p:nvPr/>
        </p:nvSpPr>
        <p:spPr>
          <a:xfrm>
            <a:off x="1234440" y="2487168"/>
            <a:ext cx="539496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Free-text, workshop shorthand</a:t>
            </a:r>
            <a:endParaRPr lang="en-US" sz="1500" dirty="0"/>
          </a:p>
        </p:txBody>
      </p:sp>
      <p:sp>
        <p:nvSpPr>
          <p:cNvPr id="7" name="Text 4"/>
          <p:cNvSpPr/>
          <p:nvPr/>
        </p:nvSpPr>
        <p:spPr>
          <a:xfrm>
            <a:off x="1234440" y="2807208"/>
            <a:ext cx="5394960" cy="548640"/>
          </a:xfrm>
          <a:prstGeom prst="rect">
            <a:avLst/>
          </a:prstGeom>
          <a:noFill/>
          <a:ln/>
        </p:spPr>
        <p:txBody>
          <a:bodyPr wrap="square" lIns="0" tIns="0" rIns="0" bIns="0" rtlCol="0" anchor="ctr"/>
          <a:lstStyle/>
          <a:p>
            <a:pPr indent="0" marL="0">
              <a:lnSpc>
                <a:spcPct val="115000"/>
              </a:lnSpc>
              <a:buNone/>
            </a:pPr>
            <a:r>
              <a:rPr lang="en-US" sz="1250" dirty="0">
                <a:solidFill>
                  <a:srgbClr val="5B6B79"/>
                </a:solidFill>
                <a:latin typeface="Calibri" pitchFamily="34" charset="0"/>
                <a:ea typeface="Calibri" pitchFamily="34" charset="-122"/>
                <a:cs typeface="Calibri" pitchFamily="34" charset="-120"/>
              </a:rPr>
              <a:t>Each case is a paragraph of German notes, abbreviations, and jargon — not data fields.</a:t>
            </a:r>
            <a:endParaRPr lang="en-US" sz="1250" dirty="0"/>
          </a:p>
        </p:txBody>
      </p:sp>
      <p:sp>
        <p:nvSpPr>
          <p:cNvPr id="8" name="Shape 5"/>
          <p:cNvSpPr/>
          <p:nvPr/>
        </p:nvSpPr>
        <p:spPr>
          <a:xfrm>
            <a:off x="548640" y="3685032"/>
            <a:ext cx="512064" cy="512064"/>
          </a:xfrm>
          <a:prstGeom prst="ellipse">
            <a:avLst/>
          </a:prstGeom>
          <a:solidFill>
            <a:srgbClr val="F2F4F6"/>
          </a:solidFill>
          <a:ln/>
        </p:spPr>
      </p:sp>
      <p:pic>
        <p:nvPicPr>
          <p:cNvPr id="9" name="Image 1" descr="/home/claude/deck/icons/search_steel.png">    </p:cNvPr>
          <p:cNvPicPr>
            <a:picLocks noChangeAspect="1"/>
          </p:cNvPicPr>
          <p:nvPr/>
        </p:nvPicPr>
        <p:blipFill>
          <a:blip r:embed="rId2"/>
          <a:stretch>
            <a:fillRect/>
          </a:stretch>
        </p:blipFill>
        <p:spPr>
          <a:xfrm>
            <a:off x="663854" y="3800246"/>
            <a:ext cx="281635" cy="281635"/>
          </a:xfrm>
          <a:prstGeom prst="rect">
            <a:avLst/>
          </a:prstGeom>
        </p:spPr>
      </p:pic>
      <p:sp>
        <p:nvSpPr>
          <p:cNvPr id="10" name="Text 6"/>
          <p:cNvSpPr/>
          <p:nvPr/>
        </p:nvSpPr>
        <p:spPr>
          <a:xfrm>
            <a:off x="1234440" y="3657600"/>
            <a:ext cx="539496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Nothing is comparable</a:t>
            </a:r>
            <a:endParaRPr lang="en-US" sz="1500" dirty="0"/>
          </a:p>
        </p:txBody>
      </p:sp>
      <p:sp>
        <p:nvSpPr>
          <p:cNvPr id="11" name="Text 7"/>
          <p:cNvSpPr/>
          <p:nvPr/>
        </p:nvSpPr>
        <p:spPr>
          <a:xfrm>
            <a:off x="1234440" y="3977640"/>
            <a:ext cx="5394960" cy="548640"/>
          </a:xfrm>
          <a:prstGeom prst="rect">
            <a:avLst/>
          </a:prstGeom>
          <a:noFill/>
          <a:ln/>
        </p:spPr>
        <p:txBody>
          <a:bodyPr wrap="square" lIns="0" tIns="0" rIns="0" bIns="0" rtlCol="0" anchor="ctr"/>
          <a:lstStyle/>
          <a:p>
            <a:pPr indent="0" marL="0">
              <a:lnSpc>
                <a:spcPct val="115000"/>
              </a:lnSpc>
              <a:buNone/>
            </a:pPr>
            <a:r>
              <a:rPr lang="en-US" sz="1250" dirty="0">
                <a:solidFill>
                  <a:srgbClr val="5B6B79"/>
                </a:solidFill>
                <a:latin typeface="Calibri" pitchFamily="34" charset="0"/>
                <a:ea typeface="Calibri" pitchFamily="34" charset="-122"/>
                <a:cs typeface="Calibri" pitchFamily="34" charset="-120"/>
              </a:rPr>
              <a:t>Managers cannot see which parts break most, or spot patterns across cases.</a:t>
            </a:r>
            <a:endParaRPr lang="en-US" sz="1250" dirty="0"/>
          </a:p>
        </p:txBody>
      </p:sp>
      <p:sp>
        <p:nvSpPr>
          <p:cNvPr id="12" name="Shape 8"/>
          <p:cNvSpPr/>
          <p:nvPr/>
        </p:nvSpPr>
        <p:spPr>
          <a:xfrm>
            <a:off x="548640" y="4855464"/>
            <a:ext cx="512064" cy="512064"/>
          </a:xfrm>
          <a:prstGeom prst="ellipse">
            <a:avLst/>
          </a:prstGeom>
          <a:solidFill>
            <a:srgbClr val="F2F4F6"/>
          </a:solidFill>
          <a:ln/>
        </p:spPr>
      </p:sp>
      <p:pic>
        <p:nvPicPr>
          <p:cNvPr id="13" name="Image 2" descr="/home/claude/deck/icons/crash_steel.png">    </p:cNvPr>
          <p:cNvPicPr>
            <a:picLocks noChangeAspect="1"/>
          </p:cNvPicPr>
          <p:nvPr/>
        </p:nvPicPr>
        <p:blipFill>
          <a:blip r:embed="rId3"/>
          <a:stretch>
            <a:fillRect/>
          </a:stretch>
        </p:blipFill>
        <p:spPr>
          <a:xfrm>
            <a:off x="663854" y="4970678"/>
            <a:ext cx="281635" cy="281635"/>
          </a:xfrm>
          <a:prstGeom prst="rect">
            <a:avLst/>
          </a:prstGeom>
        </p:spPr>
      </p:pic>
      <p:sp>
        <p:nvSpPr>
          <p:cNvPr id="14" name="Text 9"/>
          <p:cNvSpPr/>
          <p:nvPr/>
        </p:nvSpPr>
        <p:spPr>
          <a:xfrm>
            <a:off x="1234440" y="4828032"/>
            <a:ext cx="539496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No visual picture</a:t>
            </a:r>
            <a:endParaRPr lang="en-US" sz="1500" dirty="0"/>
          </a:p>
        </p:txBody>
      </p:sp>
      <p:sp>
        <p:nvSpPr>
          <p:cNvPr id="15" name="Text 10"/>
          <p:cNvSpPr/>
          <p:nvPr/>
        </p:nvSpPr>
        <p:spPr>
          <a:xfrm>
            <a:off x="1234440" y="5148072"/>
            <a:ext cx="5394960" cy="548640"/>
          </a:xfrm>
          <a:prstGeom prst="rect">
            <a:avLst/>
          </a:prstGeom>
          <a:noFill/>
          <a:ln/>
        </p:spPr>
        <p:txBody>
          <a:bodyPr wrap="square" lIns="0" tIns="0" rIns="0" bIns="0" rtlCol="0" anchor="ctr"/>
          <a:lstStyle/>
          <a:p>
            <a:pPr indent="0" marL="0">
              <a:lnSpc>
                <a:spcPct val="115000"/>
              </a:lnSpc>
              <a:buNone/>
            </a:pPr>
            <a:r>
              <a:rPr lang="en-US" sz="1250" dirty="0">
                <a:solidFill>
                  <a:srgbClr val="5B6B79"/>
                </a:solidFill>
                <a:latin typeface="Calibri" pitchFamily="34" charset="0"/>
                <a:ea typeface="Calibri" pitchFamily="34" charset="-122"/>
                <a:cs typeface="Calibri" pitchFamily="34" charset="-120"/>
              </a:rPr>
              <a:t>A repair estimate lives in text only — no one can see the damage on the car itself.</a:t>
            </a:r>
            <a:endParaRPr lang="en-US" sz="1250" dirty="0"/>
          </a:p>
        </p:txBody>
      </p:sp>
      <p:sp>
        <p:nvSpPr>
          <p:cNvPr id="16" name="Shape 11"/>
          <p:cNvSpPr/>
          <p:nvPr/>
        </p:nvSpPr>
        <p:spPr>
          <a:xfrm>
            <a:off x="7635240" y="2514600"/>
            <a:ext cx="3977640" cy="3566160"/>
          </a:xfrm>
          <a:prstGeom prst="roundRect">
            <a:avLst>
              <a:gd name="adj" fmla="val 3077"/>
            </a:avLst>
          </a:prstGeom>
          <a:solidFill>
            <a:srgbClr val="1B2430"/>
          </a:solidFill>
          <a:ln/>
        </p:spPr>
      </p:sp>
      <p:sp>
        <p:nvSpPr>
          <p:cNvPr id="17" name="Text 12"/>
          <p:cNvSpPr/>
          <p:nvPr/>
        </p:nvSpPr>
        <p:spPr>
          <a:xfrm>
            <a:off x="7635240" y="2834640"/>
            <a:ext cx="3977640" cy="914400"/>
          </a:xfrm>
          <a:prstGeom prst="rect">
            <a:avLst/>
          </a:prstGeom>
          <a:noFill/>
          <a:ln/>
        </p:spPr>
        <p:txBody>
          <a:bodyPr wrap="square" lIns="0" tIns="0" rIns="0" bIns="0" rtlCol="0" anchor="ctr"/>
          <a:lstStyle/>
          <a:p>
            <a:pPr algn="ctr" indent="0" marL="0">
              <a:buNone/>
            </a:pPr>
            <a:r>
              <a:rPr lang="en-US" sz="5400" b="1" dirty="0">
                <a:solidFill>
                  <a:srgbClr val="F4A100"/>
                </a:solidFill>
                <a:latin typeface="Cambria" pitchFamily="34" charset="0"/>
                <a:ea typeface="Cambria" pitchFamily="34" charset="-122"/>
                <a:cs typeface="Cambria" pitchFamily="34" charset="-120"/>
              </a:rPr>
              <a:t>~1,000</a:t>
            </a:r>
            <a:endParaRPr lang="en-US" sz="5400" dirty="0"/>
          </a:p>
        </p:txBody>
      </p:sp>
      <p:sp>
        <p:nvSpPr>
          <p:cNvPr id="18" name="Text 13"/>
          <p:cNvSpPr/>
          <p:nvPr/>
        </p:nvSpPr>
        <p:spPr>
          <a:xfrm>
            <a:off x="7818120" y="3703320"/>
            <a:ext cx="36118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real service &amp; damage cases</a:t>
            </a:r>
            <a:endParaRPr lang="en-US" sz="1300" dirty="0"/>
          </a:p>
        </p:txBody>
      </p:sp>
      <p:sp>
        <p:nvSpPr>
          <p:cNvPr id="19" name="Shape 14"/>
          <p:cNvSpPr/>
          <p:nvPr/>
        </p:nvSpPr>
        <p:spPr>
          <a:xfrm>
            <a:off x="8092440" y="4251960"/>
            <a:ext cx="3063240" cy="0"/>
          </a:xfrm>
          <a:prstGeom prst="line">
            <a:avLst/>
          </a:prstGeom>
          <a:noFill/>
          <a:ln w="12700">
            <a:solidFill>
              <a:srgbClr val="3E5C76"/>
            </a:solidFill>
            <a:prstDash val="solid"/>
          </a:ln>
        </p:spPr>
      </p:sp>
      <p:sp>
        <p:nvSpPr>
          <p:cNvPr id="20" name="Text 15"/>
          <p:cNvSpPr/>
          <p:nvPr/>
        </p:nvSpPr>
        <p:spPr>
          <a:xfrm>
            <a:off x="7635240" y="4434840"/>
            <a:ext cx="3977640" cy="6858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1" name="Text 16"/>
          <p:cNvSpPr/>
          <p:nvPr/>
        </p:nvSpPr>
        <p:spPr>
          <a:xfrm>
            <a:off x="7818120" y="5074920"/>
            <a:ext cx="3611880" cy="365760"/>
          </a:xfrm>
          <a:prstGeom prst="rect">
            <a:avLst/>
          </a:prstGeom>
          <a:noFill/>
          <a:ln/>
        </p:spPr>
        <p:txBody>
          <a:bodyPr wrap="square" lIns="0" tIns="0" rIns="0" bIns="0" rtlCol="0" anchor="ctr"/>
          <a:lstStyle/>
          <a:p>
            <a:pPr algn="ctr" indent="0" marL="0">
              <a:buNone/>
            </a:pPr>
            <a:r>
              <a:rPr lang="en-US" sz="1300" dirty="0">
                <a:solidFill>
                  <a:srgbClr val="C7D0D8"/>
                </a:solidFill>
                <a:latin typeface="Calibri" pitchFamily="34" charset="0"/>
                <a:ea typeface="Calibri" pitchFamily="34" charset="-122"/>
                <a:cs typeface="Calibri" pitchFamily="34" charset="-120"/>
              </a:rPr>
              <a:t>structured fields to analyze</a:t>
            </a:r>
            <a:endParaRPr lang="en-US" sz="1300" dirty="0"/>
          </a:p>
        </p:txBody>
      </p:sp>
      <p:sp>
        <p:nvSpPr>
          <p:cNvPr id="22"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Automotive Damage Intelligence</a:t>
            </a:r>
            <a:endParaRPr lang="en-US" sz="1000" dirty="0"/>
          </a:p>
        </p:txBody>
      </p:sp>
      <p:sp>
        <p:nvSpPr>
          <p:cNvPr id="23"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OUR APPROACH</a:t>
            </a:r>
            <a:endParaRPr lang="en-US" sz="1300" dirty="0"/>
          </a:p>
        </p:txBody>
      </p:sp>
      <p:sp>
        <p:nvSpPr>
          <p:cNvPr id="3" name="Text 1"/>
          <p:cNvSpPr/>
          <p:nvPr/>
        </p:nvSpPr>
        <p:spPr>
          <a:xfrm>
            <a:off x="548640" y="777240"/>
            <a:ext cx="9601200" cy="1188720"/>
          </a:xfrm>
          <a:prstGeom prst="rect">
            <a:avLst/>
          </a:prstGeom>
          <a:noFill/>
          <a:ln/>
        </p:spPr>
        <p:txBody>
          <a:bodyPr wrap="square" lIns="0" tIns="0" rIns="0" bIns="0" rtlCol="0" anchor="ctr"/>
          <a:lstStyle/>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A system that reads, understands,</a:t>
            </a:r>
            <a:endParaRPr lang="en-US" sz="3000" dirty="0"/>
          </a:p>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and shows the damage</a:t>
            </a:r>
            <a:endParaRPr lang="en-US" sz="3000" dirty="0"/>
          </a:p>
        </p:txBody>
      </p:sp>
      <p:sp>
        <p:nvSpPr>
          <p:cNvPr id="4" name="Shape 2"/>
          <p:cNvSpPr/>
          <p:nvPr/>
        </p:nvSpPr>
        <p:spPr>
          <a:xfrm>
            <a:off x="548640" y="2468880"/>
            <a:ext cx="2542032" cy="3246120"/>
          </a:xfrm>
          <a:prstGeom prst="roundRect">
            <a:avLst>
              <a:gd name="adj" fmla="val 3597"/>
            </a:avLst>
          </a:prstGeom>
          <a:solidFill>
            <a:srgbClr val="F2F4F6"/>
          </a:solidFill>
          <a:ln/>
        </p:spPr>
      </p:sp>
      <p:sp>
        <p:nvSpPr>
          <p:cNvPr id="5" name="Text 3"/>
          <p:cNvSpPr/>
          <p:nvPr/>
        </p:nvSpPr>
        <p:spPr>
          <a:xfrm>
            <a:off x="713232" y="2615184"/>
            <a:ext cx="548640" cy="365760"/>
          </a:xfrm>
          <a:prstGeom prst="rect">
            <a:avLst/>
          </a:prstGeom>
          <a:noFill/>
          <a:ln/>
        </p:spPr>
        <p:txBody>
          <a:bodyPr wrap="square" lIns="0" tIns="0" rIns="0" bIns="0" rtlCol="0" anchor="ctr"/>
          <a:lstStyle/>
          <a:p>
            <a:pPr indent="0" marL="0">
              <a:buNone/>
            </a:pPr>
            <a:r>
              <a:rPr lang="en-US" sz="1600" b="1" dirty="0">
                <a:solidFill>
                  <a:srgbClr val="C3CCD3"/>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1490472" y="3035808"/>
            <a:ext cx="658368" cy="658368"/>
          </a:xfrm>
          <a:prstGeom prst="ellipse">
            <a:avLst/>
          </a:prstGeom>
          <a:solidFill>
            <a:srgbClr val="F4A100"/>
          </a:solidFill>
          <a:ln/>
        </p:spPr>
      </p:sp>
      <p:pic>
        <p:nvPicPr>
          <p:cNvPr id="7" name="Image 0" descr="/home/claude/deck/icons/note_steel.png">    </p:cNvPr>
          <p:cNvPicPr>
            <a:picLocks noChangeAspect="1"/>
          </p:cNvPicPr>
          <p:nvPr/>
        </p:nvPicPr>
        <p:blipFill>
          <a:blip r:embed="rId1"/>
          <a:stretch>
            <a:fillRect/>
          </a:stretch>
        </p:blipFill>
        <p:spPr>
          <a:xfrm>
            <a:off x="1638605" y="3183941"/>
            <a:ext cx="362102" cy="362102"/>
          </a:xfrm>
          <a:prstGeom prst="rect">
            <a:avLst/>
          </a:prstGeom>
        </p:spPr>
      </p:pic>
      <p:sp>
        <p:nvSpPr>
          <p:cNvPr id="8" name="Text 5"/>
          <p:cNvSpPr/>
          <p:nvPr/>
        </p:nvSpPr>
        <p:spPr>
          <a:xfrm>
            <a:off x="685800" y="3886200"/>
            <a:ext cx="2267712" cy="36576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Read</a:t>
            </a:r>
            <a:endParaRPr lang="en-US" sz="1600" dirty="0"/>
          </a:p>
        </p:txBody>
      </p:sp>
      <p:sp>
        <p:nvSpPr>
          <p:cNvPr id="9" name="Text 6"/>
          <p:cNvSpPr/>
          <p:nvPr/>
        </p:nvSpPr>
        <p:spPr>
          <a:xfrm>
            <a:off x="749808" y="4297680"/>
            <a:ext cx="2139696" cy="1280160"/>
          </a:xfrm>
          <a:prstGeom prst="rect">
            <a:avLst/>
          </a:prstGeom>
          <a:noFill/>
          <a:ln/>
        </p:spPr>
        <p:txBody>
          <a:bodyPr wrap="square" lIns="0" tIns="0" rIns="0" bIns="0" rtlCol="0" anchor="ctr"/>
          <a:lstStyle/>
          <a:p>
            <a:pPr algn="ctr" indent="0" marL="0">
              <a:lnSpc>
                <a:spcPct val="120000"/>
              </a:lnSpc>
              <a:buNone/>
            </a:pPr>
            <a:r>
              <a:rPr lang="en-US" sz="1150" dirty="0">
                <a:solidFill>
                  <a:srgbClr val="5B6B79"/>
                </a:solidFill>
                <a:latin typeface="Calibri" pitchFamily="34" charset="0"/>
                <a:ea typeface="Calibri" pitchFamily="34" charset="-122"/>
                <a:cs typeface="Calibri" pitchFamily="34" charset="-120"/>
              </a:rPr>
              <a:t>Takes the original German workshop note, exactly as written.</a:t>
            </a:r>
            <a:endParaRPr lang="en-US" sz="1150" dirty="0"/>
          </a:p>
        </p:txBody>
      </p:sp>
      <p:sp>
        <p:nvSpPr>
          <p:cNvPr id="10" name="Text 7"/>
          <p:cNvSpPr/>
          <p:nvPr/>
        </p:nvSpPr>
        <p:spPr>
          <a:xfrm>
            <a:off x="3095244" y="3890772"/>
            <a:ext cx="246888" cy="402336"/>
          </a:xfrm>
          <a:prstGeom prst="rect">
            <a:avLst/>
          </a:prstGeom>
          <a:noFill/>
          <a:ln/>
        </p:spPr>
        <p:txBody>
          <a:bodyPr wrap="square" lIns="0" tIns="0" rIns="0" bIns="0" rtlCol="0" anchor="ctr"/>
          <a:lstStyle/>
          <a:p>
            <a:pPr algn="ctr" indent="0" marL="0">
              <a:buNone/>
            </a:pPr>
            <a:r>
              <a:rPr lang="en-US" sz="1600" b="1" dirty="0">
                <a:solidFill>
                  <a:srgbClr val="C3CCD3"/>
                </a:solidFill>
                <a:latin typeface="Calibri" pitchFamily="34" charset="0"/>
                <a:ea typeface="Calibri" pitchFamily="34" charset="-122"/>
                <a:cs typeface="Calibri" pitchFamily="34" charset="-120"/>
              </a:rPr>
              <a:t>&gt;</a:t>
            </a:r>
            <a:endParaRPr lang="en-US" sz="1600" dirty="0"/>
          </a:p>
        </p:txBody>
      </p:sp>
      <p:sp>
        <p:nvSpPr>
          <p:cNvPr id="11" name="Shape 8"/>
          <p:cNvSpPr/>
          <p:nvPr/>
        </p:nvSpPr>
        <p:spPr>
          <a:xfrm>
            <a:off x="3346704" y="2468880"/>
            <a:ext cx="2542032" cy="3246120"/>
          </a:xfrm>
          <a:prstGeom prst="roundRect">
            <a:avLst>
              <a:gd name="adj" fmla="val 3597"/>
            </a:avLst>
          </a:prstGeom>
          <a:solidFill>
            <a:srgbClr val="F2F4F6"/>
          </a:solidFill>
          <a:ln/>
        </p:spPr>
      </p:sp>
      <p:sp>
        <p:nvSpPr>
          <p:cNvPr id="12" name="Text 9"/>
          <p:cNvSpPr/>
          <p:nvPr/>
        </p:nvSpPr>
        <p:spPr>
          <a:xfrm>
            <a:off x="3511296" y="2615184"/>
            <a:ext cx="548640" cy="365760"/>
          </a:xfrm>
          <a:prstGeom prst="rect">
            <a:avLst/>
          </a:prstGeom>
          <a:noFill/>
          <a:ln/>
        </p:spPr>
        <p:txBody>
          <a:bodyPr wrap="square" lIns="0" tIns="0" rIns="0" bIns="0" rtlCol="0" anchor="ctr"/>
          <a:lstStyle/>
          <a:p>
            <a:pPr indent="0" marL="0">
              <a:buNone/>
            </a:pPr>
            <a:r>
              <a:rPr lang="en-US" sz="1600" b="1" dirty="0">
                <a:solidFill>
                  <a:srgbClr val="C3CCD3"/>
                </a:solidFill>
                <a:latin typeface="Cambria" pitchFamily="34" charset="0"/>
                <a:ea typeface="Cambria" pitchFamily="34" charset="-122"/>
                <a:cs typeface="Cambria" pitchFamily="34" charset="-120"/>
              </a:rPr>
              <a:t>2</a:t>
            </a:r>
            <a:endParaRPr lang="en-US" sz="1600" dirty="0"/>
          </a:p>
        </p:txBody>
      </p:sp>
      <p:sp>
        <p:nvSpPr>
          <p:cNvPr id="13" name="Shape 10"/>
          <p:cNvSpPr/>
          <p:nvPr/>
        </p:nvSpPr>
        <p:spPr>
          <a:xfrm>
            <a:off x="4288536" y="3035808"/>
            <a:ext cx="658368" cy="658368"/>
          </a:xfrm>
          <a:prstGeom prst="ellipse">
            <a:avLst/>
          </a:prstGeom>
          <a:solidFill>
            <a:srgbClr val="F4A100"/>
          </a:solidFill>
          <a:ln/>
        </p:spPr>
      </p:sp>
      <p:pic>
        <p:nvPicPr>
          <p:cNvPr id="14" name="Image 1" descr="/home/claude/deck/icons/brain_steel.png">    </p:cNvPr>
          <p:cNvPicPr>
            <a:picLocks noChangeAspect="1"/>
          </p:cNvPicPr>
          <p:nvPr/>
        </p:nvPicPr>
        <p:blipFill>
          <a:blip r:embed="rId2"/>
          <a:stretch>
            <a:fillRect/>
          </a:stretch>
        </p:blipFill>
        <p:spPr>
          <a:xfrm>
            <a:off x="4436669" y="3183941"/>
            <a:ext cx="362102" cy="362102"/>
          </a:xfrm>
          <a:prstGeom prst="rect">
            <a:avLst/>
          </a:prstGeom>
        </p:spPr>
      </p:pic>
      <p:sp>
        <p:nvSpPr>
          <p:cNvPr id="15" name="Text 11"/>
          <p:cNvSpPr/>
          <p:nvPr/>
        </p:nvSpPr>
        <p:spPr>
          <a:xfrm>
            <a:off x="3483864" y="3886200"/>
            <a:ext cx="2267712" cy="36576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Understand</a:t>
            </a:r>
            <a:endParaRPr lang="en-US" sz="1600" dirty="0"/>
          </a:p>
        </p:txBody>
      </p:sp>
      <p:sp>
        <p:nvSpPr>
          <p:cNvPr id="16" name="Text 12"/>
          <p:cNvSpPr/>
          <p:nvPr/>
        </p:nvSpPr>
        <p:spPr>
          <a:xfrm>
            <a:off x="3547872" y="4297680"/>
            <a:ext cx="2139696" cy="1280160"/>
          </a:xfrm>
          <a:prstGeom prst="rect">
            <a:avLst/>
          </a:prstGeom>
          <a:noFill/>
          <a:ln/>
        </p:spPr>
        <p:txBody>
          <a:bodyPr wrap="square" lIns="0" tIns="0" rIns="0" bIns="0" rtlCol="0" anchor="ctr"/>
          <a:lstStyle/>
          <a:p>
            <a:pPr algn="ctr" indent="0" marL="0">
              <a:lnSpc>
                <a:spcPct val="120000"/>
              </a:lnSpc>
              <a:buNone/>
            </a:pPr>
            <a:r>
              <a:rPr lang="en-US" sz="1150" dirty="0">
                <a:solidFill>
                  <a:srgbClr val="5B6B79"/>
                </a:solidFill>
                <a:latin typeface="Calibri" pitchFamily="34" charset="0"/>
                <a:ea typeface="Calibri" pitchFamily="34" charset="-122"/>
                <a:cs typeface="Calibri" pitchFamily="34" charset="-120"/>
              </a:rPr>
              <a:t>Identifies what is damaged, where, and how severe — only what the text supports.</a:t>
            </a:r>
            <a:endParaRPr lang="en-US" sz="1150" dirty="0"/>
          </a:p>
        </p:txBody>
      </p:sp>
      <p:sp>
        <p:nvSpPr>
          <p:cNvPr id="17" name="Text 13"/>
          <p:cNvSpPr/>
          <p:nvPr/>
        </p:nvSpPr>
        <p:spPr>
          <a:xfrm>
            <a:off x="5893308" y="3890772"/>
            <a:ext cx="246888" cy="402336"/>
          </a:xfrm>
          <a:prstGeom prst="rect">
            <a:avLst/>
          </a:prstGeom>
          <a:noFill/>
          <a:ln/>
        </p:spPr>
        <p:txBody>
          <a:bodyPr wrap="square" lIns="0" tIns="0" rIns="0" bIns="0" rtlCol="0" anchor="ctr"/>
          <a:lstStyle/>
          <a:p>
            <a:pPr algn="ctr" indent="0" marL="0">
              <a:buNone/>
            </a:pPr>
            <a:r>
              <a:rPr lang="en-US" sz="1600" b="1" dirty="0">
                <a:solidFill>
                  <a:srgbClr val="C3CCD3"/>
                </a:solidFill>
                <a:latin typeface="Calibri" pitchFamily="34" charset="0"/>
                <a:ea typeface="Calibri" pitchFamily="34" charset="-122"/>
                <a:cs typeface="Calibri" pitchFamily="34" charset="-120"/>
              </a:rPr>
              <a:t>&gt;</a:t>
            </a:r>
            <a:endParaRPr lang="en-US" sz="1600" dirty="0"/>
          </a:p>
        </p:txBody>
      </p:sp>
      <p:sp>
        <p:nvSpPr>
          <p:cNvPr id="18" name="Shape 14"/>
          <p:cNvSpPr/>
          <p:nvPr/>
        </p:nvSpPr>
        <p:spPr>
          <a:xfrm>
            <a:off x="6144768" y="2468880"/>
            <a:ext cx="2542032" cy="3246120"/>
          </a:xfrm>
          <a:prstGeom prst="roundRect">
            <a:avLst>
              <a:gd name="adj" fmla="val 3597"/>
            </a:avLst>
          </a:prstGeom>
          <a:solidFill>
            <a:srgbClr val="F2F4F6"/>
          </a:solidFill>
          <a:ln/>
        </p:spPr>
      </p:sp>
      <p:sp>
        <p:nvSpPr>
          <p:cNvPr id="19" name="Text 15"/>
          <p:cNvSpPr/>
          <p:nvPr/>
        </p:nvSpPr>
        <p:spPr>
          <a:xfrm>
            <a:off x="6309360" y="2615184"/>
            <a:ext cx="548640" cy="365760"/>
          </a:xfrm>
          <a:prstGeom prst="rect">
            <a:avLst/>
          </a:prstGeom>
          <a:noFill/>
          <a:ln/>
        </p:spPr>
        <p:txBody>
          <a:bodyPr wrap="square" lIns="0" tIns="0" rIns="0" bIns="0" rtlCol="0" anchor="ctr"/>
          <a:lstStyle/>
          <a:p>
            <a:pPr indent="0" marL="0">
              <a:buNone/>
            </a:pPr>
            <a:r>
              <a:rPr lang="en-US" sz="1600" b="1" dirty="0">
                <a:solidFill>
                  <a:srgbClr val="C3CCD3"/>
                </a:solidFill>
                <a:latin typeface="Cambria" pitchFamily="34" charset="0"/>
                <a:ea typeface="Cambria" pitchFamily="34" charset="-122"/>
                <a:cs typeface="Cambria" pitchFamily="34" charset="-120"/>
              </a:rPr>
              <a:t>3</a:t>
            </a:r>
            <a:endParaRPr lang="en-US" sz="1600" dirty="0"/>
          </a:p>
        </p:txBody>
      </p:sp>
      <p:sp>
        <p:nvSpPr>
          <p:cNvPr id="20" name="Shape 16"/>
          <p:cNvSpPr/>
          <p:nvPr/>
        </p:nvSpPr>
        <p:spPr>
          <a:xfrm>
            <a:off x="7086600" y="3035808"/>
            <a:ext cx="658368" cy="658368"/>
          </a:xfrm>
          <a:prstGeom prst="ellipse">
            <a:avLst/>
          </a:prstGeom>
          <a:solidFill>
            <a:srgbClr val="F4A100"/>
          </a:solidFill>
          <a:ln/>
        </p:spPr>
      </p:sp>
      <p:pic>
        <p:nvPicPr>
          <p:cNvPr id="21" name="Image 2" descr="/home/claude/deck/icons/car_steel.png">    </p:cNvPr>
          <p:cNvPicPr>
            <a:picLocks noChangeAspect="1"/>
          </p:cNvPicPr>
          <p:nvPr/>
        </p:nvPicPr>
        <p:blipFill>
          <a:blip r:embed="rId3"/>
          <a:stretch>
            <a:fillRect/>
          </a:stretch>
        </p:blipFill>
        <p:spPr>
          <a:xfrm>
            <a:off x="7234733" y="3183941"/>
            <a:ext cx="362102" cy="362102"/>
          </a:xfrm>
          <a:prstGeom prst="rect">
            <a:avLst/>
          </a:prstGeom>
        </p:spPr>
      </p:pic>
      <p:sp>
        <p:nvSpPr>
          <p:cNvPr id="22" name="Text 17"/>
          <p:cNvSpPr/>
          <p:nvPr/>
        </p:nvSpPr>
        <p:spPr>
          <a:xfrm>
            <a:off x="6281928" y="3886200"/>
            <a:ext cx="2267712" cy="36576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Visualize</a:t>
            </a:r>
            <a:endParaRPr lang="en-US" sz="1600" dirty="0"/>
          </a:p>
        </p:txBody>
      </p:sp>
      <p:sp>
        <p:nvSpPr>
          <p:cNvPr id="23" name="Text 18"/>
          <p:cNvSpPr/>
          <p:nvPr/>
        </p:nvSpPr>
        <p:spPr>
          <a:xfrm>
            <a:off x="6345936" y="4297680"/>
            <a:ext cx="2139696" cy="1280160"/>
          </a:xfrm>
          <a:prstGeom prst="rect">
            <a:avLst/>
          </a:prstGeom>
          <a:noFill/>
          <a:ln/>
        </p:spPr>
        <p:txBody>
          <a:bodyPr wrap="square" lIns="0" tIns="0" rIns="0" bIns="0" rtlCol="0" anchor="ctr"/>
          <a:lstStyle/>
          <a:p>
            <a:pPr algn="ctr" indent="0" marL="0">
              <a:lnSpc>
                <a:spcPct val="120000"/>
              </a:lnSpc>
              <a:buNone/>
            </a:pPr>
            <a:r>
              <a:rPr lang="en-US" sz="1150" dirty="0">
                <a:solidFill>
                  <a:srgbClr val="5B6B79"/>
                </a:solidFill>
                <a:latin typeface="Calibri" pitchFamily="34" charset="0"/>
                <a:ea typeface="Calibri" pitchFamily="34" charset="-122"/>
                <a:cs typeface="Calibri" pitchFamily="34" charset="-120"/>
              </a:rPr>
              <a:t>Places every damage on a realistic 3D car model, zone by zone.</a:t>
            </a:r>
            <a:endParaRPr lang="en-US" sz="1150" dirty="0"/>
          </a:p>
        </p:txBody>
      </p:sp>
      <p:sp>
        <p:nvSpPr>
          <p:cNvPr id="24" name="Text 19"/>
          <p:cNvSpPr/>
          <p:nvPr/>
        </p:nvSpPr>
        <p:spPr>
          <a:xfrm>
            <a:off x="8691372" y="3890772"/>
            <a:ext cx="246888" cy="402336"/>
          </a:xfrm>
          <a:prstGeom prst="rect">
            <a:avLst/>
          </a:prstGeom>
          <a:noFill/>
          <a:ln/>
        </p:spPr>
        <p:txBody>
          <a:bodyPr wrap="square" lIns="0" tIns="0" rIns="0" bIns="0" rtlCol="0" anchor="ctr"/>
          <a:lstStyle/>
          <a:p>
            <a:pPr algn="ctr" indent="0" marL="0">
              <a:buNone/>
            </a:pPr>
            <a:r>
              <a:rPr lang="en-US" sz="1600" b="1" dirty="0">
                <a:solidFill>
                  <a:srgbClr val="C3CCD3"/>
                </a:solidFill>
                <a:latin typeface="Calibri" pitchFamily="34" charset="0"/>
                <a:ea typeface="Calibri" pitchFamily="34" charset="-122"/>
                <a:cs typeface="Calibri" pitchFamily="34" charset="-120"/>
              </a:rPr>
              <a:t>&gt;</a:t>
            </a:r>
            <a:endParaRPr lang="en-US" sz="1600" dirty="0"/>
          </a:p>
        </p:txBody>
      </p:sp>
      <p:sp>
        <p:nvSpPr>
          <p:cNvPr id="25" name="Shape 20"/>
          <p:cNvSpPr/>
          <p:nvPr/>
        </p:nvSpPr>
        <p:spPr>
          <a:xfrm>
            <a:off x="8942832" y="2468880"/>
            <a:ext cx="2542032" cy="3246120"/>
          </a:xfrm>
          <a:prstGeom prst="roundRect">
            <a:avLst>
              <a:gd name="adj" fmla="val 3597"/>
            </a:avLst>
          </a:prstGeom>
          <a:solidFill>
            <a:srgbClr val="F2F4F6"/>
          </a:solidFill>
          <a:ln/>
        </p:spPr>
      </p:sp>
      <p:sp>
        <p:nvSpPr>
          <p:cNvPr id="26" name="Text 21"/>
          <p:cNvSpPr/>
          <p:nvPr/>
        </p:nvSpPr>
        <p:spPr>
          <a:xfrm>
            <a:off x="9107424" y="2615184"/>
            <a:ext cx="548640" cy="365760"/>
          </a:xfrm>
          <a:prstGeom prst="rect">
            <a:avLst/>
          </a:prstGeom>
          <a:noFill/>
          <a:ln/>
        </p:spPr>
        <p:txBody>
          <a:bodyPr wrap="square" lIns="0" tIns="0" rIns="0" bIns="0" rtlCol="0" anchor="ctr"/>
          <a:lstStyle/>
          <a:p>
            <a:pPr indent="0" marL="0">
              <a:buNone/>
            </a:pPr>
            <a:r>
              <a:rPr lang="en-US" sz="1600" b="1" dirty="0">
                <a:solidFill>
                  <a:srgbClr val="C3CCD3"/>
                </a:solidFill>
                <a:latin typeface="Cambria" pitchFamily="34" charset="0"/>
                <a:ea typeface="Cambria" pitchFamily="34" charset="-122"/>
                <a:cs typeface="Cambria" pitchFamily="34" charset="-120"/>
              </a:rPr>
              <a:t>4</a:t>
            </a:r>
            <a:endParaRPr lang="en-US" sz="1600" dirty="0"/>
          </a:p>
        </p:txBody>
      </p:sp>
      <p:sp>
        <p:nvSpPr>
          <p:cNvPr id="27" name="Shape 22"/>
          <p:cNvSpPr/>
          <p:nvPr/>
        </p:nvSpPr>
        <p:spPr>
          <a:xfrm>
            <a:off x="9884664" y="3035808"/>
            <a:ext cx="658368" cy="658368"/>
          </a:xfrm>
          <a:prstGeom prst="ellipse">
            <a:avLst/>
          </a:prstGeom>
          <a:solidFill>
            <a:srgbClr val="F4A100"/>
          </a:solidFill>
          <a:ln/>
        </p:spPr>
      </p:sp>
      <p:pic>
        <p:nvPicPr>
          <p:cNvPr id="28" name="Image 3" descr="/home/claude/deck/icons/chart_steel.png">    </p:cNvPr>
          <p:cNvPicPr>
            <a:picLocks noChangeAspect="1"/>
          </p:cNvPicPr>
          <p:nvPr/>
        </p:nvPicPr>
        <p:blipFill>
          <a:blip r:embed="rId4"/>
          <a:stretch>
            <a:fillRect/>
          </a:stretch>
        </p:blipFill>
        <p:spPr>
          <a:xfrm>
            <a:off x="10032797" y="3183941"/>
            <a:ext cx="362102" cy="362102"/>
          </a:xfrm>
          <a:prstGeom prst="rect">
            <a:avLst/>
          </a:prstGeom>
        </p:spPr>
      </p:pic>
      <p:sp>
        <p:nvSpPr>
          <p:cNvPr id="29" name="Text 23"/>
          <p:cNvSpPr/>
          <p:nvPr/>
        </p:nvSpPr>
        <p:spPr>
          <a:xfrm>
            <a:off x="9079992" y="3886200"/>
            <a:ext cx="2267712" cy="36576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Reveal</a:t>
            </a:r>
            <a:endParaRPr lang="en-US" sz="1600" dirty="0"/>
          </a:p>
        </p:txBody>
      </p:sp>
      <p:sp>
        <p:nvSpPr>
          <p:cNvPr id="30" name="Text 24"/>
          <p:cNvSpPr/>
          <p:nvPr/>
        </p:nvSpPr>
        <p:spPr>
          <a:xfrm>
            <a:off x="9144000" y="4297680"/>
            <a:ext cx="2139696" cy="1280160"/>
          </a:xfrm>
          <a:prstGeom prst="rect">
            <a:avLst/>
          </a:prstGeom>
          <a:noFill/>
          <a:ln/>
        </p:spPr>
        <p:txBody>
          <a:bodyPr wrap="square" lIns="0" tIns="0" rIns="0" bIns="0" rtlCol="0" anchor="ctr"/>
          <a:lstStyle/>
          <a:p>
            <a:pPr algn="ctr" indent="0" marL="0">
              <a:lnSpc>
                <a:spcPct val="120000"/>
              </a:lnSpc>
              <a:buNone/>
            </a:pPr>
            <a:r>
              <a:rPr lang="en-US" sz="1150" dirty="0">
                <a:solidFill>
                  <a:srgbClr val="5B6B79"/>
                </a:solidFill>
                <a:latin typeface="Calibri" pitchFamily="34" charset="0"/>
                <a:ea typeface="Calibri" pitchFamily="34" charset="-122"/>
                <a:cs typeface="Calibri" pitchFamily="34" charset="-120"/>
              </a:rPr>
              <a:t>Combines all cases into clear, factual operational insights.</a:t>
            </a:r>
            <a:endParaRPr lang="en-US" sz="1150" dirty="0"/>
          </a:p>
        </p:txBody>
      </p:sp>
      <p:sp>
        <p:nvSpPr>
          <p:cNvPr id="31" name="Text 2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Automotive Damage Intelligence</a:t>
            </a:r>
            <a:endParaRPr lang="en-US" sz="1000" dirty="0"/>
          </a:p>
        </p:txBody>
      </p:sp>
      <p:sp>
        <p:nvSpPr>
          <p:cNvPr id="32" name="Text 2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548640" y="685800"/>
            <a:ext cx="777240" cy="777240"/>
          </a:xfrm>
          <a:prstGeom prst="ellipse">
            <a:avLst/>
          </a:prstGeom>
          <a:solidFill>
            <a:srgbClr val="F4A100"/>
          </a:solidFill>
          <a:ln/>
        </p:spPr>
      </p:sp>
      <p:pic>
        <p:nvPicPr>
          <p:cNvPr id="3" name="Image 0" descr="/home/claude/deck/icons/shield_steel.png">    </p:cNvPr>
          <p:cNvPicPr>
            <a:picLocks noChangeAspect="1"/>
          </p:cNvPicPr>
          <p:nvPr/>
        </p:nvPicPr>
        <p:blipFill>
          <a:blip r:embed="rId1"/>
          <a:stretch>
            <a:fillRect/>
          </a:stretch>
        </p:blipFill>
        <p:spPr>
          <a:xfrm>
            <a:off x="711860" y="849020"/>
            <a:ext cx="450799" cy="450799"/>
          </a:xfrm>
          <a:prstGeom prst="rect">
            <a:avLst/>
          </a:prstGeom>
        </p:spPr>
      </p:pic>
      <p:sp>
        <p:nvSpPr>
          <p:cNvPr id="4" name="Text 1"/>
          <p:cNvSpPr/>
          <p:nvPr/>
        </p:nvSpPr>
        <p:spPr>
          <a:xfrm>
            <a:off x="1508760" y="758952"/>
            <a:ext cx="54864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WHY YOU CAN TRUST IT</a:t>
            </a:r>
            <a:endParaRPr lang="en-US" sz="1300" dirty="0"/>
          </a:p>
        </p:txBody>
      </p:sp>
      <p:sp>
        <p:nvSpPr>
          <p:cNvPr id="5" name="Text 2"/>
          <p:cNvSpPr/>
          <p:nvPr/>
        </p:nvSpPr>
        <p:spPr>
          <a:xfrm>
            <a:off x="548640" y="1417320"/>
            <a:ext cx="9692640" cy="128016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Nothing is invented. Every answer</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must prove itself.</a:t>
            </a:r>
            <a:endParaRPr lang="en-US" sz="3000" dirty="0"/>
          </a:p>
        </p:txBody>
      </p:sp>
      <p:sp>
        <p:nvSpPr>
          <p:cNvPr id="6" name="Shape 3"/>
          <p:cNvSpPr/>
          <p:nvPr/>
        </p:nvSpPr>
        <p:spPr>
          <a:xfrm>
            <a:off x="548640" y="2880360"/>
            <a:ext cx="3611880" cy="3246120"/>
          </a:xfrm>
          <a:prstGeom prst="roundRect">
            <a:avLst>
              <a:gd name="adj" fmla="val 2817"/>
            </a:avLst>
          </a:prstGeom>
          <a:solidFill>
            <a:srgbClr val="242F3E"/>
          </a:solidFill>
          <a:ln/>
        </p:spPr>
      </p:sp>
      <p:sp>
        <p:nvSpPr>
          <p:cNvPr id="7" name="Shape 4"/>
          <p:cNvSpPr/>
          <p:nvPr/>
        </p:nvSpPr>
        <p:spPr>
          <a:xfrm>
            <a:off x="822960" y="3154680"/>
            <a:ext cx="566928" cy="566928"/>
          </a:xfrm>
          <a:prstGeom prst="ellipse">
            <a:avLst/>
          </a:prstGeom>
          <a:solidFill>
            <a:srgbClr val="F4A100"/>
          </a:solidFill>
          <a:ln/>
        </p:spPr>
      </p:sp>
      <p:pic>
        <p:nvPicPr>
          <p:cNvPr id="8" name="Image 1" descr="/home/claude/deck/icons/search_steel.png">    </p:cNvPr>
          <p:cNvPicPr>
            <a:picLocks noChangeAspect="1"/>
          </p:cNvPicPr>
          <p:nvPr/>
        </p:nvPicPr>
        <p:blipFill>
          <a:blip r:embed="rId2"/>
          <a:stretch>
            <a:fillRect/>
          </a:stretch>
        </p:blipFill>
        <p:spPr>
          <a:xfrm>
            <a:off x="950519" y="3282239"/>
            <a:ext cx="311810" cy="311810"/>
          </a:xfrm>
          <a:prstGeom prst="rect">
            <a:avLst/>
          </a:prstGeom>
        </p:spPr>
      </p:pic>
      <p:sp>
        <p:nvSpPr>
          <p:cNvPr id="9" name="Text 5"/>
          <p:cNvSpPr/>
          <p:nvPr/>
        </p:nvSpPr>
        <p:spPr>
          <a:xfrm>
            <a:off x="822960" y="3840480"/>
            <a:ext cx="3063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Evidence required</a:t>
            </a:r>
            <a:endParaRPr lang="en-US" sz="1550" dirty="0"/>
          </a:p>
        </p:txBody>
      </p:sp>
      <p:sp>
        <p:nvSpPr>
          <p:cNvPr id="10" name="Text 6"/>
          <p:cNvSpPr/>
          <p:nvPr/>
        </p:nvSpPr>
        <p:spPr>
          <a:xfrm>
            <a:off x="822960" y="4315968"/>
            <a:ext cx="3063240" cy="1691640"/>
          </a:xfrm>
          <a:prstGeom prst="rect">
            <a:avLst/>
          </a:prstGeom>
          <a:noFill/>
          <a:ln/>
        </p:spPr>
        <p:txBody>
          <a:bodyPr wrap="square" lIns="0" tIns="0" rIns="0" bIns="0" rtlCol="0" anchor="ctr"/>
          <a:lstStyle/>
          <a:p>
            <a:pPr indent="0" marL="0">
              <a:lnSpc>
                <a:spcPct val="125000"/>
              </a:lnSpc>
              <a:buNone/>
            </a:pPr>
            <a:r>
              <a:rPr lang="en-US" sz="1200" dirty="0">
                <a:solidFill>
                  <a:srgbClr val="C7D0D8"/>
                </a:solidFill>
                <a:latin typeface="Calibri" pitchFamily="34" charset="0"/>
                <a:ea typeface="Calibri" pitchFamily="34" charset="-122"/>
                <a:cs typeface="Calibri" pitchFamily="34" charset="-120"/>
              </a:rPr>
              <a:t>The system must point to the exact words in the German note that justify each finding — or it says "unknown".</a:t>
            </a:r>
            <a:endParaRPr lang="en-US" sz="1200" dirty="0"/>
          </a:p>
        </p:txBody>
      </p:sp>
      <p:sp>
        <p:nvSpPr>
          <p:cNvPr id="11" name="Shape 7"/>
          <p:cNvSpPr/>
          <p:nvPr/>
        </p:nvSpPr>
        <p:spPr>
          <a:xfrm>
            <a:off x="4434840" y="2880360"/>
            <a:ext cx="3611880" cy="3246120"/>
          </a:xfrm>
          <a:prstGeom prst="roundRect">
            <a:avLst>
              <a:gd name="adj" fmla="val 2817"/>
            </a:avLst>
          </a:prstGeom>
          <a:solidFill>
            <a:srgbClr val="242F3E"/>
          </a:solidFill>
          <a:ln/>
        </p:spPr>
      </p:sp>
      <p:sp>
        <p:nvSpPr>
          <p:cNvPr id="12" name="Shape 8"/>
          <p:cNvSpPr/>
          <p:nvPr/>
        </p:nvSpPr>
        <p:spPr>
          <a:xfrm>
            <a:off x="4709160" y="3154680"/>
            <a:ext cx="566928" cy="566928"/>
          </a:xfrm>
          <a:prstGeom prst="ellipse">
            <a:avLst/>
          </a:prstGeom>
          <a:solidFill>
            <a:srgbClr val="F4A100"/>
          </a:solidFill>
          <a:ln/>
        </p:spPr>
      </p:sp>
      <p:pic>
        <p:nvPicPr>
          <p:cNvPr id="13" name="Image 2" descr="/home/claude/deck/icons/check_steel.png">    </p:cNvPr>
          <p:cNvPicPr>
            <a:picLocks noChangeAspect="1"/>
          </p:cNvPicPr>
          <p:nvPr/>
        </p:nvPicPr>
        <p:blipFill>
          <a:blip r:embed="rId3"/>
          <a:stretch>
            <a:fillRect/>
          </a:stretch>
        </p:blipFill>
        <p:spPr>
          <a:xfrm>
            <a:off x="4836719" y="3282239"/>
            <a:ext cx="311810" cy="311810"/>
          </a:xfrm>
          <a:prstGeom prst="rect">
            <a:avLst/>
          </a:prstGeom>
        </p:spPr>
      </p:pic>
      <p:sp>
        <p:nvSpPr>
          <p:cNvPr id="14" name="Text 9"/>
          <p:cNvSpPr/>
          <p:nvPr/>
        </p:nvSpPr>
        <p:spPr>
          <a:xfrm>
            <a:off x="4709160" y="3840480"/>
            <a:ext cx="3063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Checked before it counts</a:t>
            </a:r>
            <a:endParaRPr lang="en-US" sz="1550" dirty="0"/>
          </a:p>
        </p:txBody>
      </p:sp>
      <p:sp>
        <p:nvSpPr>
          <p:cNvPr id="15" name="Text 10"/>
          <p:cNvSpPr/>
          <p:nvPr/>
        </p:nvSpPr>
        <p:spPr>
          <a:xfrm>
            <a:off x="4709160" y="4315968"/>
            <a:ext cx="3063240" cy="1691640"/>
          </a:xfrm>
          <a:prstGeom prst="rect">
            <a:avLst/>
          </a:prstGeom>
          <a:noFill/>
          <a:ln/>
        </p:spPr>
        <p:txBody>
          <a:bodyPr wrap="square" lIns="0" tIns="0" rIns="0" bIns="0" rtlCol="0" anchor="ctr"/>
          <a:lstStyle/>
          <a:p>
            <a:pPr indent="0" marL="0">
              <a:lnSpc>
                <a:spcPct val="125000"/>
              </a:lnSpc>
              <a:buNone/>
            </a:pPr>
            <a:r>
              <a:rPr lang="en-US" sz="1200" dirty="0">
                <a:solidFill>
                  <a:srgbClr val="C7D0D8"/>
                </a:solidFill>
                <a:latin typeface="Calibri" pitchFamily="34" charset="0"/>
                <a:ea typeface="Calibri" pitchFamily="34" charset="-122"/>
                <a:cs typeface="Calibri" pitchFamily="34" charset="-120"/>
              </a:rPr>
              <a:t>Every result is run through strict rules before it reaches a dashboard or the 3D car — no unverified guess gets through.</a:t>
            </a:r>
            <a:endParaRPr lang="en-US" sz="1200" dirty="0"/>
          </a:p>
        </p:txBody>
      </p:sp>
      <p:sp>
        <p:nvSpPr>
          <p:cNvPr id="16" name="Shape 11"/>
          <p:cNvSpPr/>
          <p:nvPr/>
        </p:nvSpPr>
        <p:spPr>
          <a:xfrm>
            <a:off x="8321040" y="2880360"/>
            <a:ext cx="3611880" cy="3246120"/>
          </a:xfrm>
          <a:prstGeom prst="roundRect">
            <a:avLst>
              <a:gd name="adj" fmla="val 2817"/>
            </a:avLst>
          </a:prstGeom>
          <a:solidFill>
            <a:srgbClr val="242F3E"/>
          </a:solidFill>
          <a:ln/>
        </p:spPr>
      </p:sp>
      <p:sp>
        <p:nvSpPr>
          <p:cNvPr id="17" name="Shape 12"/>
          <p:cNvSpPr/>
          <p:nvPr/>
        </p:nvSpPr>
        <p:spPr>
          <a:xfrm>
            <a:off x="8595360" y="3154680"/>
            <a:ext cx="566928" cy="566928"/>
          </a:xfrm>
          <a:prstGeom prst="ellipse">
            <a:avLst/>
          </a:prstGeom>
          <a:solidFill>
            <a:srgbClr val="F4A100"/>
          </a:solidFill>
          <a:ln/>
        </p:spPr>
      </p:sp>
      <p:pic>
        <p:nvPicPr>
          <p:cNvPr id="18" name="Image 3" descr="/home/claude/deck/icons/gauge_steel.png">    </p:cNvPr>
          <p:cNvPicPr>
            <a:picLocks noChangeAspect="1"/>
          </p:cNvPicPr>
          <p:nvPr/>
        </p:nvPicPr>
        <p:blipFill>
          <a:blip r:embed="rId4"/>
          <a:stretch>
            <a:fillRect/>
          </a:stretch>
        </p:blipFill>
        <p:spPr>
          <a:xfrm>
            <a:off x="8722919" y="3282239"/>
            <a:ext cx="311810" cy="311810"/>
          </a:xfrm>
          <a:prstGeom prst="rect">
            <a:avLst/>
          </a:prstGeom>
        </p:spPr>
      </p:pic>
      <p:sp>
        <p:nvSpPr>
          <p:cNvPr id="19" name="Text 13"/>
          <p:cNvSpPr/>
          <p:nvPr/>
        </p:nvSpPr>
        <p:spPr>
          <a:xfrm>
            <a:off x="8595360" y="3840480"/>
            <a:ext cx="3063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Measured, not assumed</a:t>
            </a:r>
            <a:endParaRPr lang="en-US" sz="1550" dirty="0"/>
          </a:p>
        </p:txBody>
      </p:sp>
      <p:sp>
        <p:nvSpPr>
          <p:cNvPr id="20" name="Text 14"/>
          <p:cNvSpPr/>
          <p:nvPr/>
        </p:nvSpPr>
        <p:spPr>
          <a:xfrm>
            <a:off x="8595360" y="4315968"/>
            <a:ext cx="3063240" cy="1691640"/>
          </a:xfrm>
          <a:prstGeom prst="rect">
            <a:avLst/>
          </a:prstGeom>
          <a:noFill/>
          <a:ln/>
        </p:spPr>
        <p:txBody>
          <a:bodyPr wrap="square" lIns="0" tIns="0" rIns="0" bIns="0" rtlCol="0" anchor="ctr"/>
          <a:lstStyle/>
          <a:p>
            <a:pPr indent="0" marL="0">
              <a:lnSpc>
                <a:spcPct val="125000"/>
              </a:lnSpc>
              <a:buNone/>
            </a:pPr>
            <a:r>
              <a:rPr lang="en-US" sz="1200" dirty="0">
                <a:solidFill>
                  <a:srgbClr val="C7D0D8"/>
                </a:solidFill>
                <a:latin typeface="Calibri" pitchFamily="34" charset="0"/>
                <a:ea typeface="Calibri" pitchFamily="34" charset="-122"/>
                <a:cs typeface="Calibri" pitchFamily="34" charset="-120"/>
              </a:rPr>
              <a:t>Accuracy is tested against cases with known, verified answers — so we can state real performance, not a claim.</a:t>
            </a:r>
            <a:endParaRPr lang="en-US" sz="1200" dirty="0"/>
          </a:p>
        </p:txBody>
      </p:sp>
      <p:sp>
        <p:nvSpPr>
          <p:cNvPr id="21"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A9B4BD"/>
                </a:solidFill>
                <a:latin typeface="Calibri" pitchFamily="34" charset="0"/>
                <a:ea typeface="Calibri" pitchFamily="34" charset="-122"/>
                <a:cs typeface="Calibri" pitchFamily="34" charset="-120"/>
              </a:rPr>
              <a:t>Automotive Damage Intelligence</a:t>
            </a:r>
            <a:endParaRPr lang="en-US" sz="1000" dirty="0"/>
          </a:p>
        </p:txBody>
      </p:sp>
      <p:sp>
        <p:nvSpPr>
          <p:cNvPr id="22" name="Text 1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9B4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SEE THE DAMAGE, NOT JUST READ IT</a:t>
            </a:r>
            <a:endParaRPr lang="en-US" sz="1300" dirty="0"/>
          </a:p>
        </p:txBody>
      </p:sp>
      <p:sp>
        <p:nvSpPr>
          <p:cNvPr id="3" name="Text 1"/>
          <p:cNvSpPr/>
          <p:nvPr/>
        </p:nvSpPr>
        <p:spPr>
          <a:xfrm>
            <a:off x="548640" y="777240"/>
            <a:ext cx="6035040" cy="1371600"/>
          </a:xfrm>
          <a:prstGeom prst="rect">
            <a:avLst/>
          </a:prstGeom>
          <a:noFill/>
          <a:ln/>
        </p:spPr>
        <p:txBody>
          <a:bodyPr wrap="square" lIns="0" tIns="0" rIns="0" bIns="0" rtlCol="0" anchor="ctr"/>
          <a:lstStyle/>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Every case comes to life</a:t>
            </a:r>
            <a:endParaRPr lang="en-US" sz="3000" dirty="0"/>
          </a:p>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on a real 3D car</a:t>
            </a:r>
            <a:endParaRPr lang="en-US" sz="3000" dirty="0"/>
          </a:p>
        </p:txBody>
      </p:sp>
      <p:sp>
        <p:nvSpPr>
          <p:cNvPr id="4" name="Shape 2"/>
          <p:cNvSpPr/>
          <p:nvPr/>
        </p:nvSpPr>
        <p:spPr>
          <a:xfrm>
            <a:off x="548640" y="2423160"/>
            <a:ext cx="512064" cy="512064"/>
          </a:xfrm>
          <a:prstGeom prst="ellipse">
            <a:avLst/>
          </a:prstGeom>
          <a:solidFill>
            <a:srgbClr val="F2F4F6"/>
          </a:solidFill>
          <a:ln/>
        </p:spPr>
      </p:sp>
      <p:pic>
        <p:nvPicPr>
          <p:cNvPr id="5" name="Image 0" descr="/home/claude/deck/icons/crash_steel.png">    </p:cNvPr>
          <p:cNvPicPr>
            <a:picLocks noChangeAspect="1"/>
          </p:cNvPicPr>
          <p:nvPr/>
        </p:nvPicPr>
        <p:blipFill>
          <a:blip r:embed="rId1"/>
          <a:stretch>
            <a:fillRect/>
          </a:stretch>
        </p:blipFill>
        <p:spPr>
          <a:xfrm>
            <a:off x="663854" y="2538374"/>
            <a:ext cx="281635" cy="281635"/>
          </a:xfrm>
          <a:prstGeom prst="rect">
            <a:avLst/>
          </a:prstGeom>
        </p:spPr>
      </p:pic>
      <p:sp>
        <p:nvSpPr>
          <p:cNvPr id="6" name="Text 3"/>
          <p:cNvSpPr/>
          <p:nvPr/>
        </p:nvSpPr>
        <p:spPr>
          <a:xfrm>
            <a:off x="1234440" y="2395728"/>
            <a:ext cx="512064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Damaged zones light up</a:t>
            </a:r>
            <a:endParaRPr lang="en-US" sz="1500" dirty="0"/>
          </a:p>
        </p:txBody>
      </p:sp>
      <p:sp>
        <p:nvSpPr>
          <p:cNvPr id="7" name="Text 4"/>
          <p:cNvSpPr/>
          <p:nvPr/>
        </p:nvSpPr>
        <p:spPr>
          <a:xfrm>
            <a:off x="1234440" y="2724912"/>
            <a:ext cx="5120640" cy="685800"/>
          </a:xfrm>
          <a:prstGeom prst="rect">
            <a:avLst/>
          </a:prstGeom>
          <a:noFill/>
          <a:ln/>
        </p:spPr>
        <p:txBody>
          <a:bodyPr wrap="square" lIns="0" tIns="0" rIns="0" bIns="0" rtlCol="0" anchor="ctr"/>
          <a:lstStyle/>
          <a:p>
            <a:pPr indent="0" marL="0">
              <a:lnSpc>
                <a:spcPct val="120000"/>
              </a:lnSpc>
              <a:buNone/>
            </a:pPr>
            <a:r>
              <a:rPr lang="en-US" sz="1200" dirty="0">
                <a:solidFill>
                  <a:srgbClr val="5B6B79"/>
                </a:solidFill>
                <a:latin typeface="Calibri" pitchFamily="34" charset="0"/>
                <a:ea typeface="Calibri" pitchFamily="34" charset="-122"/>
                <a:cs typeface="Calibri" pitchFamily="34" charset="-120"/>
              </a:rPr>
              <a:t>The exact part described in the note is highlighted on the model — a bumper, a door, a headlight.</a:t>
            </a:r>
            <a:endParaRPr lang="en-US" sz="1200" dirty="0"/>
          </a:p>
        </p:txBody>
      </p:sp>
      <p:sp>
        <p:nvSpPr>
          <p:cNvPr id="8" name="Shape 5"/>
          <p:cNvSpPr/>
          <p:nvPr/>
        </p:nvSpPr>
        <p:spPr>
          <a:xfrm>
            <a:off x="548640" y="3721608"/>
            <a:ext cx="512064" cy="512064"/>
          </a:xfrm>
          <a:prstGeom prst="ellipse">
            <a:avLst/>
          </a:prstGeom>
          <a:solidFill>
            <a:srgbClr val="F2F4F6"/>
          </a:solidFill>
          <a:ln/>
        </p:spPr>
      </p:sp>
      <p:pic>
        <p:nvPicPr>
          <p:cNvPr id="9" name="Image 1" descr="/home/claude/deck/icons/link_steel.png">    </p:cNvPr>
          <p:cNvPicPr>
            <a:picLocks noChangeAspect="1"/>
          </p:cNvPicPr>
          <p:nvPr/>
        </p:nvPicPr>
        <p:blipFill>
          <a:blip r:embed="rId2"/>
          <a:stretch>
            <a:fillRect/>
          </a:stretch>
        </p:blipFill>
        <p:spPr>
          <a:xfrm>
            <a:off x="663854" y="3836822"/>
            <a:ext cx="281635" cy="281635"/>
          </a:xfrm>
          <a:prstGeom prst="rect">
            <a:avLst/>
          </a:prstGeom>
        </p:spPr>
      </p:pic>
      <p:sp>
        <p:nvSpPr>
          <p:cNvPr id="10" name="Text 6"/>
          <p:cNvSpPr/>
          <p:nvPr/>
        </p:nvSpPr>
        <p:spPr>
          <a:xfrm>
            <a:off x="1234440" y="3694176"/>
            <a:ext cx="512064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Connected parts shown separately</a:t>
            </a:r>
            <a:endParaRPr lang="en-US" sz="1500" dirty="0"/>
          </a:p>
        </p:txBody>
      </p:sp>
      <p:sp>
        <p:nvSpPr>
          <p:cNvPr id="11" name="Text 7"/>
          <p:cNvSpPr/>
          <p:nvPr/>
        </p:nvSpPr>
        <p:spPr>
          <a:xfrm>
            <a:off x="1234440" y="4023360"/>
            <a:ext cx="5120640" cy="685800"/>
          </a:xfrm>
          <a:prstGeom prst="rect">
            <a:avLst/>
          </a:prstGeom>
          <a:noFill/>
          <a:ln/>
        </p:spPr>
        <p:txBody>
          <a:bodyPr wrap="square" lIns="0" tIns="0" rIns="0" bIns="0" rtlCol="0" anchor="ctr"/>
          <a:lstStyle/>
          <a:p>
            <a:pPr indent="0" marL="0">
              <a:lnSpc>
                <a:spcPct val="120000"/>
              </a:lnSpc>
              <a:buNone/>
            </a:pPr>
            <a:r>
              <a:rPr lang="en-US" sz="1200" dirty="0">
                <a:solidFill>
                  <a:srgbClr val="5B6B79"/>
                </a:solidFill>
                <a:latin typeface="Calibri" pitchFamily="34" charset="0"/>
                <a:ea typeface="Calibri" pitchFamily="34" charset="-122"/>
                <a:cs typeface="Calibri" pitchFamily="34" charset="-120"/>
              </a:rPr>
              <a:t>Nearby intact parts (like a headlight next to a damaged bumper) are marked in their own color — never confused with real damage.</a:t>
            </a:r>
            <a:endParaRPr lang="en-US" sz="1200" dirty="0"/>
          </a:p>
        </p:txBody>
      </p:sp>
      <p:sp>
        <p:nvSpPr>
          <p:cNvPr id="12" name="Shape 8"/>
          <p:cNvSpPr/>
          <p:nvPr/>
        </p:nvSpPr>
        <p:spPr>
          <a:xfrm>
            <a:off x="548640" y="5020056"/>
            <a:ext cx="512064" cy="512064"/>
          </a:xfrm>
          <a:prstGeom prst="ellipse">
            <a:avLst/>
          </a:prstGeom>
          <a:solidFill>
            <a:srgbClr val="F2F4F6"/>
          </a:solidFill>
          <a:ln/>
        </p:spPr>
      </p:sp>
      <p:pic>
        <p:nvPicPr>
          <p:cNvPr id="13" name="Image 2" descr="/home/claude/deck/icons/car_steel.png">    </p:cNvPr>
          <p:cNvPicPr>
            <a:picLocks noChangeAspect="1"/>
          </p:cNvPicPr>
          <p:nvPr/>
        </p:nvPicPr>
        <p:blipFill>
          <a:blip r:embed="rId3"/>
          <a:stretch>
            <a:fillRect/>
          </a:stretch>
        </p:blipFill>
        <p:spPr>
          <a:xfrm>
            <a:off x="663854" y="5135270"/>
            <a:ext cx="281635" cy="281635"/>
          </a:xfrm>
          <a:prstGeom prst="rect">
            <a:avLst/>
          </a:prstGeom>
        </p:spPr>
      </p:pic>
      <p:sp>
        <p:nvSpPr>
          <p:cNvPr id="14" name="Text 9"/>
          <p:cNvSpPr/>
          <p:nvPr/>
        </p:nvSpPr>
        <p:spPr>
          <a:xfrm>
            <a:off x="1234440" y="4992624"/>
            <a:ext cx="512064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One glance, full picture</a:t>
            </a:r>
            <a:endParaRPr lang="en-US" sz="1500" dirty="0"/>
          </a:p>
        </p:txBody>
      </p:sp>
      <p:sp>
        <p:nvSpPr>
          <p:cNvPr id="15" name="Text 10"/>
          <p:cNvSpPr/>
          <p:nvPr/>
        </p:nvSpPr>
        <p:spPr>
          <a:xfrm>
            <a:off x="1234440" y="5321808"/>
            <a:ext cx="5120640" cy="685800"/>
          </a:xfrm>
          <a:prstGeom prst="rect">
            <a:avLst/>
          </a:prstGeom>
          <a:noFill/>
          <a:ln/>
        </p:spPr>
        <p:txBody>
          <a:bodyPr wrap="square" lIns="0" tIns="0" rIns="0" bIns="0" rtlCol="0" anchor="ctr"/>
          <a:lstStyle/>
          <a:p>
            <a:pPr indent="0" marL="0">
              <a:lnSpc>
                <a:spcPct val="120000"/>
              </a:lnSpc>
              <a:buNone/>
            </a:pPr>
            <a:r>
              <a:rPr lang="en-US" sz="1200" dirty="0">
                <a:solidFill>
                  <a:srgbClr val="5B6B79"/>
                </a:solidFill>
                <a:latin typeface="Calibri" pitchFamily="34" charset="0"/>
                <a:ea typeface="Calibri" pitchFamily="34" charset="-122"/>
                <a:cs typeface="Calibri" pitchFamily="34" charset="-120"/>
              </a:rPr>
              <a:t>A workshop or claims handler sees severity and scope instantly, without reading paragraphs of German text.</a:t>
            </a:r>
            <a:endParaRPr lang="en-US" sz="1200" dirty="0"/>
          </a:p>
        </p:txBody>
      </p:sp>
      <p:sp>
        <p:nvSpPr>
          <p:cNvPr id="16" name="Shape 11"/>
          <p:cNvSpPr/>
          <p:nvPr/>
        </p:nvSpPr>
        <p:spPr>
          <a:xfrm>
            <a:off x="6903720" y="1737360"/>
            <a:ext cx="4754880" cy="4343400"/>
          </a:xfrm>
          <a:prstGeom prst="roundRect">
            <a:avLst>
              <a:gd name="adj" fmla="val 2105"/>
            </a:avLst>
          </a:prstGeom>
          <a:solidFill>
            <a:srgbClr val="1B2430"/>
          </a:solidFill>
          <a:ln/>
        </p:spPr>
      </p:sp>
      <p:sp>
        <p:nvSpPr>
          <p:cNvPr id="17" name="Text 12"/>
          <p:cNvSpPr/>
          <p:nvPr/>
        </p:nvSpPr>
        <p:spPr>
          <a:xfrm>
            <a:off x="7178040" y="1965960"/>
            <a:ext cx="4206240" cy="274320"/>
          </a:xfrm>
          <a:prstGeom prst="rect">
            <a:avLst/>
          </a:prstGeom>
          <a:noFill/>
          <a:ln/>
        </p:spPr>
        <p:txBody>
          <a:bodyPr wrap="square" lIns="0" tIns="0" rIns="0" bIns="0" rtlCol="0" anchor="ctr"/>
          <a:lstStyle/>
          <a:p>
            <a:pPr indent="0" marL="0">
              <a:buNone/>
            </a:pPr>
            <a:r>
              <a:rPr lang="en-US" sz="1050" b="1" spc="150" kern="0" dirty="0">
                <a:solidFill>
                  <a:srgbClr val="8A98A5"/>
                </a:solidFill>
                <a:latin typeface="Calibri" pitchFamily="34" charset="0"/>
                <a:ea typeface="Calibri" pitchFamily="34" charset="-122"/>
                <a:cs typeface="Calibri" pitchFamily="34" charset="-120"/>
              </a:rPr>
              <a:t>3D DAMAGE VIEW</a:t>
            </a:r>
            <a:endParaRPr lang="en-US" sz="1050" dirty="0"/>
          </a:p>
        </p:txBody>
      </p:sp>
      <p:sp>
        <p:nvSpPr>
          <p:cNvPr id="18" name="Shape 13"/>
          <p:cNvSpPr/>
          <p:nvPr/>
        </p:nvSpPr>
        <p:spPr>
          <a:xfrm>
            <a:off x="8321040" y="2788920"/>
            <a:ext cx="1920240" cy="1920240"/>
          </a:xfrm>
          <a:prstGeom prst="ellipse">
            <a:avLst/>
          </a:prstGeom>
          <a:solidFill>
            <a:srgbClr val="242F3E"/>
          </a:solidFill>
          <a:ln/>
        </p:spPr>
      </p:sp>
      <p:pic>
        <p:nvPicPr>
          <p:cNvPr id="19" name="Image 3" descr="/home/claude/deck/icons/car_amber.png">    </p:cNvPr>
          <p:cNvPicPr>
            <a:picLocks noChangeAspect="1"/>
          </p:cNvPicPr>
          <p:nvPr/>
        </p:nvPicPr>
        <p:blipFill>
          <a:blip r:embed="rId4"/>
          <a:stretch>
            <a:fillRect/>
          </a:stretch>
        </p:blipFill>
        <p:spPr>
          <a:xfrm>
            <a:off x="8685886" y="3153766"/>
            <a:ext cx="1190549" cy="1190549"/>
          </a:xfrm>
          <a:prstGeom prst="rect">
            <a:avLst/>
          </a:prstGeom>
        </p:spPr>
      </p:pic>
      <p:sp>
        <p:nvSpPr>
          <p:cNvPr id="20" name="Shape 14"/>
          <p:cNvSpPr/>
          <p:nvPr/>
        </p:nvSpPr>
        <p:spPr>
          <a:xfrm>
            <a:off x="7223760" y="5120640"/>
            <a:ext cx="182880" cy="182880"/>
          </a:xfrm>
          <a:prstGeom prst="ellipse">
            <a:avLst/>
          </a:prstGeom>
          <a:solidFill>
            <a:srgbClr val="E14B4B"/>
          </a:solidFill>
          <a:ln/>
        </p:spPr>
      </p:sp>
      <p:sp>
        <p:nvSpPr>
          <p:cNvPr id="21" name="Text 15"/>
          <p:cNvSpPr/>
          <p:nvPr/>
        </p:nvSpPr>
        <p:spPr>
          <a:xfrm>
            <a:off x="7479792" y="5065776"/>
            <a:ext cx="1371600" cy="292608"/>
          </a:xfrm>
          <a:prstGeom prst="rect">
            <a:avLst/>
          </a:prstGeom>
          <a:noFill/>
          <a:ln/>
        </p:spPr>
        <p:txBody>
          <a:bodyPr wrap="square" lIns="0" tIns="0" rIns="0" bIns="0" rtlCol="0" anchor="ctr"/>
          <a:lstStyle/>
          <a:p>
            <a:pPr indent="0" marL="0">
              <a:buNone/>
            </a:pPr>
            <a:r>
              <a:rPr lang="en-US" sz="1050" dirty="0">
                <a:solidFill>
                  <a:srgbClr val="C7D0D8"/>
                </a:solidFill>
                <a:latin typeface="Calibri" pitchFamily="34" charset="0"/>
                <a:ea typeface="Calibri" pitchFamily="34" charset="-122"/>
                <a:cs typeface="Calibri" pitchFamily="34" charset="-120"/>
              </a:rPr>
              <a:t>Damaged</a:t>
            </a:r>
            <a:endParaRPr lang="en-US" sz="1050" dirty="0"/>
          </a:p>
        </p:txBody>
      </p:sp>
      <p:sp>
        <p:nvSpPr>
          <p:cNvPr id="22" name="Shape 16"/>
          <p:cNvSpPr/>
          <p:nvPr/>
        </p:nvSpPr>
        <p:spPr>
          <a:xfrm>
            <a:off x="8732520" y="5120640"/>
            <a:ext cx="182880" cy="182880"/>
          </a:xfrm>
          <a:prstGeom prst="ellipse">
            <a:avLst/>
          </a:prstGeom>
          <a:solidFill>
            <a:srgbClr val="F4A100"/>
          </a:solidFill>
          <a:ln/>
        </p:spPr>
      </p:sp>
      <p:sp>
        <p:nvSpPr>
          <p:cNvPr id="23" name="Text 17"/>
          <p:cNvSpPr/>
          <p:nvPr/>
        </p:nvSpPr>
        <p:spPr>
          <a:xfrm>
            <a:off x="8988552" y="5065776"/>
            <a:ext cx="1371600" cy="292608"/>
          </a:xfrm>
          <a:prstGeom prst="rect">
            <a:avLst/>
          </a:prstGeom>
          <a:noFill/>
          <a:ln/>
        </p:spPr>
        <p:txBody>
          <a:bodyPr wrap="square" lIns="0" tIns="0" rIns="0" bIns="0" rtlCol="0" anchor="ctr"/>
          <a:lstStyle/>
          <a:p>
            <a:pPr indent="0" marL="0">
              <a:buNone/>
            </a:pPr>
            <a:r>
              <a:rPr lang="en-US" sz="1050" dirty="0">
                <a:solidFill>
                  <a:srgbClr val="C7D0D8"/>
                </a:solidFill>
                <a:latin typeface="Calibri" pitchFamily="34" charset="0"/>
                <a:ea typeface="Calibri" pitchFamily="34" charset="-122"/>
                <a:cs typeface="Calibri" pitchFamily="34" charset="-120"/>
              </a:rPr>
              <a:t>Linked / intact</a:t>
            </a:r>
            <a:endParaRPr lang="en-US" sz="1050" dirty="0"/>
          </a:p>
        </p:txBody>
      </p:sp>
      <p:sp>
        <p:nvSpPr>
          <p:cNvPr id="24" name="Shape 18"/>
          <p:cNvSpPr/>
          <p:nvPr/>
        </p:nvSpPr>
        <p:spPr>
          <a:xfrm>
            <a:off x="10241280" y="5120640"/>
            <a:ext cx="182880" cy="182880"/>
          </a:xfrm>
          <a:prstGeom prst="ellipse">
            <a:avLst/>
          </a:prstGeom>
          <a:solidFill>
            <a:srgbClr val="4A5A68"/>
          </a:solidFill>
          <a:ln/>
        </p:spPr>
      </p:sp>
      <p:sp>
        <p:nvSpPr>
          <p:cNvPr id="25" name="Text 19"/>
          <p:cNvSpPr/>
          <p:nvPr/>
        </p:nvSpPr>
        <p:spPr>
          <a:xfrm>
            <a:off x="10497312" y="5065776"/>
            <a:ext cx="1371600" cy="292608"/>
          </a:xfrm>
          <a:prstGeom prst="rect">
            <a:avLst/>
          </a:prstGeom>
          <a:noFill/>
          <a:ln/>
        </p:spPr>
        <p:txBody>
          <a:bodyPr wrap="square" lIns="0" tIns="0" rIns="0" bIns="0" rtlCol="0" anchor="ctr"/>
          <a:lstStyle/>
          <a:p>
            <a:pPr indent="0" marL="0">
              <a:buNone/>
            </a:pPr>
            <a:r>
              <a:rPr lang="en-US" sz="1050" dirty="0">
                <a:solidFill>
                  <a:srgbClr val="C7D0D8"/>
                </a:solidFill>
                <a:latin typeface="Calibri" pitchFamily="34" charset="0"/>
                <a:ea typeface="Calibri" pitchFamily="34" charset="-122"/>
                <a:cs typeface="Calibri" pitchFamily="34" charset="-120"/>
              </a:rPr>
              <a:t>Unaffected</a:t>
            </a:r>
            <a:endParaRPr lang="en-US" sz="1050" dirty="0"/>
          </a:p>
        </p:txBody>
      </p:sp>
      <p:sp>
        <p:nvSpPr>
          <p:cNvPr id="26"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Automotive Damage Intelligence</a:t>
            </a:r>
            <a:endParaRPr lang="en-US" sz="1000" dirty="0"/>
          </a:p>
        </p:txBody>
      </p:sp>
      <p:sp>
        <p:nvSpPr>
          <p:cNvPr id="27"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FROM 1,000 NOTES TO ONE CLEAR PICTURE</a:t>
            </a:r>
            <a:endParaRPr lang="en-US" sz="1300" dirty="0"/>
          </a:p>
        </p:txBody>
      </p:sp>
      <p:sp>
        <p:nvSpPr>
          <p:cNvPr id="3" name="Text 1"/>
          <p:cNvSpPr/>
          <p:nvPr/>
        </p:nvSpPr>
        <p:spPr>
          <a:xfrm>
            <a:off x="548640" y="777240"/>
            <a:ext cx="8229600" cy="1280160"/>
          </a:xfrm>
          <a:prstGeom prst="rect">
            <a:avLst/>
          </a:prstGeom>
          <a:noFill/>
          <a:ln/>
        </p:spPr>
        <p:txBody>
          <a:bodyPr wrap="square" lIns="0" tIns="0" rIns="0" bIns="0" rtlCol="0" anchor="ctr"/>
          <a:lstStyle/>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Real answers for real</a:t>
            </a:r>
            <a:endParaRPr lang="en-US" sz="3000" dirty="0"/>
          </a:p>
          <a:p>
            <a:pPr indent="0" marL="0">
              <a:lnSpc>
                <a:spcPct val="105000"/>
              </a:lnSpc>
              <a:buNone/>
            </a:pPr>
            <a:r>
              <a:rPr lang="en-US" sz="3000" b="1" dirty="0">
                <a:solidFill>
                  <a:srgbClr val="1B2430"/>
                </a:solidFill>
                <a:latin typeface="Cambria" pitchFamily="34" charset="0"/>
                <a:ea typeface="Cambria" pitchFamily="34" charset="-122"/>
                <a:cs typeface="Cambria" pitchFamily="34" charset="-120"/>
              </a:rPr>
              <a:t>dealership questions</a:t>
            </a:r>
            <a:endParaRPr lang="en-US" sz="3000" dirty="0"/>
          </a:p>
        </p:txBody>
      </p:sp>
      <p:sp>
        <p:nvSpPr>
          <p:cNvPr id="4" name="Shape 2"/>
          <p:cNvSpPr/>
          <p:nvPr/>
        </p:nvSpPr>
        <p:spPr>
          <a:xfrm>
            <a:off x="548640" y="2514600"/>
            <a:ext cx="5349240" cy="1600200"/>
          </a:xfrm>
          <a:prstGeom prst="roundRect">
            <a:avLst>
              <a:gd name="adj" fmla="val 5714"/>
            </a:avLst>
          </a:prstGeom>
          <a:solidFill>
            <a:srgbClr val="F2F4F6"/>
          </a:solidFill>
          <a:ln/>
        </p:spPr>
      </p:sp>
      <p:sp>
        <p:nvSpPr>
          <p:cNvPr id="5" name="Shape 3"/>
          <p:cNvSpPr/>
          <p:nvPr/>
        </p:nvSpPr>
        <p:spPr>
          <a:xfrm>
            <a:off x="804672" y="2734056"/>
            <a:ext cx="566928" cy="566928"/>
          </a:xfrm>
          <a:prstGeom prst="ellipse">
            <a:avLst/>
          </a:prstGeom>
          <a:solidFill>
            <a:srgbClr val="F4A100"/>
          </a:solidFill>
          <a:ln/>
        </p:spPr>
      </p:sp>
      <p:pic>
        <p:nvPicPr>
          <p:cNvPr id="6" name="Image 0" descr="/home/claude/deck/icons/chart_steel.png">    </p:cNvPr>
          <p:cNvPicPr>
            <a:picLocks noChangeAspect="1"/>
          </p:cNvPicPr>
          <p:nvPr/>
        </p:nvPicPr>
        <p:blipFill>
          <a:blip r:embed="rId1"/>
          <a:stretch>
            <a:fillRect/>
          </a:stretch>
        </p:blipFill>
        <p:spPr>
          <a:xfrm>
            <a:off x="932231" y="2861615"/>
            <a:ext cx="311810" cy="311810"/>
          </a:xfrm>
          <a:prstGeom prst="rect">
            <a:avLst/>
          </a:prstGeom>
        </p:spPr>
      </p:pic>
      <p:sp>
        <p:nvSpPr>
          <p:cNvPr id="7" name="Text 4"/>
          <p:cNvSpPr/>
          <p:nvPr/>
        </p:nvSpPr>
        <p:spPr>
          <a:xfrm>
            <a:off x="1554480" y="2679192"/>
            <a:ext cx="4114800" cy="457200"/>
          </a:xfrm>
          <a:prstGeom prst="rect">
            <a:avLst/>
          </a:prstGeom>
          <a:noFill/>
          <a:ln/>
        </p:spPr>
        <p:txBody>
          <a:bodyPr wrap="square" lIns="0" tIns="0" rIns="0" bIns="0"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Which parts break most often?</a:t>
            </a:r>
            <a:endParaRPr lang="en-US" sz="1450" dirty="0"/>
          </a:p>
        </p:txBody>
      </p:sp>
      <p:sp>
        <p:nvSpPr>
          <p:cNvPr id="8" name="Text 5"/>
          <p:cNvSpPr/>
          <p:nvPr/>
        </p:nvSpPr>
        <p:spPr>
          <a:xfrm>
            <a:off x="1554480" y="3136392"/>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5B6B79"/>
                </a:solidFill>
                <a:latin typeface="Calibri" pitchFamily="34" charset="0"/>
                <a:ea typeface="Calibri" pitchFamily="34" charset="-122"/>
                <a:cs typeface="Calibri" pitchFamily="34" charset="-120"/>
              </a:rPr>
              <a:t>Damage zones ranked automatically across every case.</a:t>
            </a:r>
            <a:endParaRPr lang="en-US" sz="1150" dirty="0"/>
          </a:p>
        </p:txBody>
      </p:sp>
      <p:sp>
        <p:nvSpPr>
          <p:cNvPr id="9" name="Shape 6"/>
          <p:cNvSpPr/>
          <p:nvPr/>
        </p:nvSpPr>
        <p:spPr>
          <a:xfrm>
            <a:off x="6217920" y="2514600"/>
            <a:ext cx="5349240" cy="1600200"/>
          </a:xfrm>
          <a:prstGeom prst="roundRect">
            <a:avLst>
              <a:gd name="adj" fmla="val 5714"/>
            </a:avLst>
          </a:prstGeom>
          <a:solidFill>
            <a:srgbClr val="F2F4F6"/>
          </a:solidFill>
          <a:ln/>
        </p:spPr>
      </p:sp>
      <p:sp>
        <p:nvSpPr>
          <p:cNvPr id="10" name="Shape 7"/>
          <p:cNvSpPr/>
          <p:nvPr/>
        </p:nvSpPr>
        <p:spPr>
          <a:xfrm>
            <a:off x="6473952" y="2734056"/>
            <a:ext cx="566928" cy="566928"/>
          </a:xfrm>
          <a:prstGeom prst="ellipse">
            <a:avLst/>
          </a:prstGeom>
          <a:solidFill>
            <a:srgbClr val="F4A100"/>
          </a:solidFill>
          <a:ln/>
        </p:spPr>
      </p:sp>
      <p:pic>
        <p:nvPicPr>
          <p:cNvPr id="11" name="Image 1" descr="/home/claude/deck/icons/gauge_steel.png">    </p:cNvPr>
          <p:cNvPicPr>
            <a:picLocks noChangeAspect="1"/>
          </p:cNvPicPr>
          <p:nvPr/>
        </p:nvPicPr>
        <p:blipFill>
          <a:blip r:embed="rId2"/>
          <a:stretch>
            <a:fillRect/>
          </a:stretch>
        </p:blipFill>
        <p:spPr>
          <a:xfrm>
            <a:off x="6601511" y="2861615"/>
            <a:ext cx="311810" cy="311810"/>
          </a:xfrm>
          <a:prstGeom prst="rect">
            <a:avLst/>
          </a:prstGeom>
        </p:spPr>
      </p:pic>
      <p:sp>
        <p:nvSpPr>
          <p:cNvPr id="12" name="Text 8"/>
          <p:cNvSpPr/>
          <p:nvPr/>
        </p:nvSpPr>
        <p:spPr>
          <a:xfrm>
            <a:off x="7223760" y="2679192"/>
            <a:ext cx="4114800" cy="457200"/>
          </a:xfrm>
          <a:prstGeom prst="rect">
            <a:avLst/>
          </a:prstGeom>
          <a:noFill/>
          <a:ln/>
        </p:spPr>
        <p:txBody>
          <a:bodyPr wrap="square" lIns="0" tIns="0" rIns="0" bIns="0"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How severe is our workload?</a:t>
            </a:r>
            <a:endParaRPr lang="en-US" sz="1450" dirty="0"/>
          </a:p>
        </p:txBody>
      </p:sp>
      <p:sp>
        <p:nvSpPr>
          <p:cNvPr id="13" name="Text 9"/>
          <p:cNvSpPr/>
          <p:nvPr/>
        </p:nvSpPr>
        <p:spPr>
          <a:xfrm>
            <a:off x="7223760" y="3136392"/>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5B6B79"/>
                </a:solidFill>
                <a:latin typeface="Calibri" pitchFamily="34" charset="0"/>
                <a:ea typeface="Calibri" pitchFamily="34" charset="-122"/>
                <a:cs typeface="Calibri" pitchFamily="34" charset="-120"/>
              </a:rPr>
              <a:t>Severity and repair-vs-replace split, computed directly — never guessed by AI.</a:t>
            </a:r>
            <a:endParaRPr lang="en-US" sz="1150" dirty="0"/>
          </a:p>
        </p:txBody>
      </p:sp>
      <p:sp>
        <p:nvSpPr>
          <p:cNvPr id="14" name="Shape 10"/>
          <p:cNvSpPr/>
          <p:nvPr/>
        </p:nvSpPr>
        <p:spPr>
          <a:xfrm>
            <a:off x="548640" y="4389120"/>
            <a:ext cx="5349240" cy="1600200"/>
          </a:xfrm>
          <a:prstGeom prst="roundRect">
            <a:avLst>
              <a:gd name="adj" fmla="val 5714"/>
            </a:avLst>
          </a:prstGeom>
          <a:solidFill>
            <a:srgbClr val="F2F4F6"/>
          </a:solidFill>
          <a:ln/>
        </p:spPr>
      </p:sp>
      <p:sp>
        <p:nvSpPr>
          <p:cNvPr id="15" name="Shape 11"/>
          <p:cNvSpPr/>
          <p:nvPr/>
        </p:nvSpPr>
        <p:spPr>
          <a:xfrm>
            <a:off x="804672" y="4608576"/>
            <a:ext cx="566928" cy="566928"/>
          </a:xfrm>
          <a:prstGeom prst="ellipse">
            <a:avLst/>
          </a:prstGeom>
          <a:solidFill>
            <a:srgbClr val="F4A100"/>
          </a:solidFill>
          <a:ln/>
        </p:spPr>
      </p:sp>
      <p:pic>
        <p:nvPicPr>
          <p:cNvPr id="16" name="Image 2" descr="/home/claude/deck/icons/warehouse_steel.png">    </p:cNvPr>
          <p:cNvPicPr>
            <a:picLocks noChangeAspect="1"/>
          </p:cNvPicPr>
          <p:nvPr/>
        </p:nvPicPr>
        <p:blipFill>
          <a:blip r:embed="rId3"/>
          <a:stretch>
            <a:fillRect/>
          </a:stretch>
        </p:blipFill>
        <p:spPr>
          <a:xfrm>
            <a:off x="932231" y="4736135"/>
            <a:ext cx="311810" cy="311810"/>
          </a:xfrm>
          <a:prstGeom prst="rect">
            <a:avLst/>
          </a:prstGeom>
        </p:spPr>
      </p:pic>
      <p:sp>
        <p:nvSpPr>
          <p:cNvPr id="17" name="Text 12"/>
          <p:cNvSpPr/>
          <p:nvPr/>
        </p:nvSpPr>
        <p:spPr>
          <a:xfrm>
            <a:off x="1554480" y="4553712"/>
            <a:ext cx="4114800" cy="457200"/>
          </a:xfrm>
          <a:prstGeom prst="rect">
            <a:avLst/>
          </a:prstGeom>
          <a:noFill/>
          <a:ln/>
        </p:spPr>
        <p:txBody>
          <a:bodyPr wrap="square" lIns="0" tIns="0" rIns="0" bIns="0"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Where do cases get stuck?</a:t>
            </a:r>
            <a:endParaRPr lang="en-US" sz="1450" dirty="0"/>
          </a:p>
        </p:txBody>
      </p:sp>
      <p:sp>
        <p:nvSpPr>
          <p:cNvPr id="18" name="Text 13"/>
          <p:cNvSpPr/>
          <p:nvPr/>
        </p:nvSpPr>
        <p:spPr>
          <a:xfrm>
            <a:off x="1554480" y="5010912"/>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5B6B79"/>
                </a:solidFill>
                <a:latin typeface="Calibri" pitchFamily="34" charset="0"/>
                <a:ea typeface="Calibri" pitchFamily="34" charset="-122"/>
                <a:cs typeface="Calibri" pitchFamily="34" charset="-120"/>
              </a:rPr>
              <a:t>Status and timing patterns reveal bottlenecks in the repair lifecycle.</a:t>
            </a:r>
            <a:endParaRPr lang="en-US" sz="1150" dirty="0"/>
          </a:p>
        </p:txBody>
      </p:sp>
      <p:sp>
        <p:nvSpPr>
          <p:cNvPr id="19" name="Shape 14"/>
          <p:cNvSpPr/>
          <p:nvPr/>
        </p:nvSpPr>
        <p:spPr>
          <a:xfrm>
            <a:off x="6217920" y="4389120"/>
            <a:ext cx="5349240" cy="1600200"/>
          </a:xfrm>
          <a:prstGeom prst="roundRect">
            <a:avLst>
              <a:gd name="adj" fmla="val 5714"/>
            </a:avLst>
          </a:prstGeom>
          <a:solidFill>
            <a:srgbClr val="F2F4F6"/>
          </a:solidFill>
          <a:ln/>
        </p:spPr>
      </p:sp>
      <p:sp>
        <p:nvSpPr>
          <p:cNvPr id="20" name="Shape 15"/>
          <p:cNvSpPr/>
          <p:nvPr/>
        </p:nvSpPr>
        <p:spPr>
          <a:xfrm>
            <a:off x="6473952" y="4608576"/>
            <a:ext cx="566928" cy="566928"/>
          </a:xfrm>
          <a:prstGeom prst="ellipse">
            <a:avLst/>
          </a:prstGeom>
          <a:solidFill>
            <a:srgbClr val="F4A100"/>
          </a:solidFill>
          <a:ln/>
        </p:spPr>
      </p:sp>
      <p:pic>
        <p:nvPicPr>
          <p:cNvPr id="21" name="Image 3" descr="/home/claude/deck/icons/shield_steel.png">    </p:cNvPr>
          <p:cNvPicPr>
            <a:picLocks noChangeAspect="1"/>
          </p:cNvPicPr>
          <p:nvPr/>
        </p:nvPicPr>
        <p:blipFill>
          <a:blip r:embed="rId4"/>
          <a:stretch>
            <a:fillRect/>
          </a:stretch>
        </p:blipFill>
        <p:spPr>
          <a:xfrm>
            <a:off x="6601511" y="4736135"/>
            <a:ext cx="311810" cy="311810"/>
          </a:xfrm>
          <a:prstGeom prst="rect">
            <a:avLst/>
          </a:prstGeom>
        </p:spPr>
      </p:pic>
      <p:sp>
        <p:nvSpPr>
          <p:cNvPr id="22" name="Text 16"/>
          <p:cNvSpPr/>
          <p:nvPr/>
        </p:nvSpPr>
        <p:spPr>
          <a:xfrm>
            <a:off x="7223760" y="4553712"/>
            <a:ext cx="4114800" cy="457200"/>
          </a:xfrm>
          <a:prstGeom prst="rect">
            <a:avLst/>
          </a:prstGeom>
          <a:noFill/>
          <a:ln/>
        </p:spPr>
        <p:txBody>
          <a:bodyPr wrap="square" lIns="0" tIns="0" rIns="0" bIns="0" rtlCol="0" anchor="ctr"/>
          <a:lstStyle/>
          <a:p>
            <a:pPr indent="0" marL="0">
              <a:buNone/>
            </a:pPr>
            <a:r>
              <a:rPr lang="en-US" sz="1450" b="1" dirty="0">
                <a:solidFill>
                  <a:srgbClr val="1B2430"/>
                </a:solidFill>
                <a:latin typeface="Calibri" pitchFamily="34" charset="0"/>
                <a:ea typeface="Calibri" pitchFamily="34" charset="-122"/>
                <a:cs typeface="Calibri" pitchFamily="34" charset="-120"/>
              </a:rPr>
              <a:t>How reliable is this system?</a:t>
            </a:r>
            <a:endParaRPr lang="en-US" sz="1450" dirty="0"/>
          </a:p>
        </p:txBody>
      </p:sp>
      <p:sp>
        <p:nvSpPr>
          <p:cNvPr id="23" name="Text 17"/>
          <p:cNvSpPr/>
          <p:nvPr/>
        </p:nvSpPr>
        <p:spPr>
          <a:xfrm>
            <a:off x="7223760" y="5010912"/>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5B6B79"/>
                </a:solidFill>
                <a:latin typeface="Calibri" pitchFamily="34" charset="0"/>
                <a:ea typeface="Calibri" pitchFamily="34" charset="-122"/>
                <a:cs typeface="Calibri" pitchFamily="34" charset="-120"/>
              </a:rPr>
              <a:t>Every metric is checked against verified cases — so the numbers can be trusted.</a:t>
            </a:r>
            <a:endParaRPr lang="en-US" sz="115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Automotive Damage Intelligence</a:t>
            </a:r>
            <a:endParaRPr lang="en-US" sz="1000" dirty="0"/>
          </a:p>
        </p:txBody>
      </p:sp>
      <p:sp>
        <p:nvSpPr>
          <p:cNvPr id="25"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1280160" y="4206240"/>
            <a:ext cx="4206240" cy="4206240"/>
          </a:xfrm>
          <a:prstGeom prst="ellipse">
            <a:avLst/>
          </a:prstGeom>
          <a:solidFill>
            <a:srgbClr val="3E5C76"/>
          </a:solidFill>
          <a:ln/>
        </p:spPr>
      </p:sp>
      <p:sp>
        <p:nvSpPr>
          <p:cNvPr id="3" name="Text 1"/>
          <p:cNvSpPr/>
          <p:nvPr/>
        </p:nvSpPr>
        <p:spPr>
          <a:xfrm>
            <a:off x="731520" y="640080"/>
            <a:ext cx="54864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WHY IT MATTERS</a:t>
            </a:r>
            <a:endParaRPr lang="en-US" sz="1300" dirty="0"/>
          </a:p>
        </p:txBody>
      </p:sp>
      <p:sp>
        <p:nvSpPr>
          <p:cNvPr id="4" name="Text 2"/>
          <p:cNvSpPr/>
          <p:nvPr/>
        </p:nvSpPr>
        <p:spPr>
          <a:xfrm>
            <a:off x="731520" y="1051560"/>
            <a:ext cx="6583680" cy="210312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Faster estimates.</a:t>
            </a:r>
            <a:endParaRPr lang="en-US" sz="3400" dirty="0"/>
          </a:p>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Consistent decisions.</a:t>
            </a:r>
            <a:endParaRPr lang="en-US" sz="3400" dirty="0"/>
          </a:p>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Scalable trust.</a:t>
            </a:r>
            <a:endParaRPr lang="en-US" sz="3400" dirty="0"/>
          </a:p>
        </p:txBody>
      </p:sp>
      <p:sp>
        <p:nvSpPr>
          <p:cNvPr id="5" name="Shape 3"/>
          <p:cNvSpPr/>
          <p:nvPr/>
        </p:nvSpPr>
        <p:spPr>
          <a:xfrm>
            <a:off x="731520" y="3429000"/>
            <a:ext cx="457200" cy="457200"/>
          </a:xfrm>
          <a:prstGeom prst="ellipse">
            <a:avLst/>
          </a:prstGeom>
          <a:solidFill>
            <a:srgbClr val="F4A100"/>
          </a:solidFill>
          <a:ln/>
        </p:spPr>
      </p:sp>
      <p:pic>
        <p:nvPicPr>
          <p:cNvPr id="6" name="Image 0" descr="/home/claude/deck/icons/bolt_steel.png">    </p:cNvPr>
          <p:cNvPicPr>
            <a:picLocks noChangeAspect="1"/>
          </p:cNvPicPr>
          <p:nvPr/>
        </p:nvPicPr>
        <p:blipFill>
          <a:blip r:embed="rId1"/>
          <a:stretch>
            <a:fillRect/>
          </a:stretch>
        </p:blipFill>
        <p:spPr>
          <a:xfrm>
            <a:off x="834390" y="3531870"/>
            <a:ext cx="251460" cy="251460"/>
          </a:xfrm>
          <a:prstGeom prst="rect">
            <a:avLst/>
          </a:prstGeom>
        </p:spPr>
      </p:pic>
      <p:sp>
        <p:nvSpPr>
          <p:cNvPr id="7" name="Text 4"/>
          <p:cNvSpPr/>
          <p:nvPr/>
        </p:nvSpPr>
        <p:spPr>
          <a:xfrm>
            <a:off x="1371600" y="3374136"/>
            <a:ext cx="6126480" cy="594360"/>
          </a:xfrm>
          <a:prstGeom prst="rect">
            <a:avLst/>
          </a:prstGeom>
          <a:noFill/>
          <a:ln/>
        </p:spPr>
        <p:txBody>
          <a:bodyPr wrap="square" lIns="0" tIns="0" rIns="0" bIns="0" rtlCol="0" anchor="ctr"/>
          <a:lstStyle/>
          <a:p>
            <a:pPr indent="0" marL="0">
              <a:lnSpc>
                <a:spcPct val="120000"/>
              </a:lnSpc>
              <a:buNone/>
            </a:pPr>
            <a:r>
              <a:rPr lang="en-US" sz="1300" dirty="0">
                <a:solidFill>
                  <a:srgbClr val="DCE3E9"/>
                </a:solidFill>
                <a:latin typeface="Calibri" pitchFamily="34" charset="0"/>
                <a:ea typeface="Calibri" pitchFamily="34" charset="-122"/>
                <a:cs typeface="Calibri" pitchFamily="34" charset="-120"/>
              </a:rPr>
              <a:t>Workshops turn a paragraph of notes into a repair plan in seconds, not minutes.</a:t>
            </a:r>
            <a:endParaRPr lang="en-US" sz="1300" dirty="0"/>
          </a:p>
        </p:txBody>
      </p:sp>
      <p:sp>
        <p:nvSpPr>
          <p:cNvPr id="8" name="Shape 5"/>
          <p:cNvSpPr/>
          <p:nvPr/>
        </p:nvSpPr>
        <p:spPr>
          <a:xfrm>
            <a:off x="731520" y="4206240"/>
            <a:ext cx="457200" cy="457200"/>
          </a:xfrm>
          <a:prstGeom prst="ellipse">
            <a:avLst/>
          </a:prstGeom>
          <a:solidFill>
            <a:srgbClr val="F4A100"/>
          </a:solidFill>
          <a:ln/>
        </p:spPr>
      </p:sp>
      <p:pic>
        <p:nvPicPr>
          <p:cNvPr id="9" name="Image 1" descr="/home/claude/deck/icons/check_steel.png">    </p:cNvPr>
          <p:cNvPicPr>
            <a:picLocks noChangeAspect="1"/>
          </p:cNvPicPr>
          <p:nvPr/>
        </p:nvPicPr>
        <p:blipFill>
          <a:blip r:embed="rId2"/>
          <a:stretch>
            <a:fillRect/>
          </a:stretch>
        </p:blipFill>
        <p:spPr>
          <a:xfrm>
            <a:off x="834390" y="4309110"/>
            <a:ext cx="251460" cy="251460"/>
          </a:xfrm>
          <a:prstGeom prst="rect">
            <a:avLst/>
          </a:prstGeom>
        </p:spPr>
      </p:pic>
      <p:sp>
        <p:nvSpPr>
          <p:cNvPr id="10" name="Text 6"/>
          <p:cNvSpPr/>
          <p:nvPr/>
        </p:nvSpPr>
        <p:spPr>
          <a:xfrm>
            <a:off x="1371600" y="4151376"/>
            <a:ext cx="6126480" cy="594360"/>
          </a:xfrm>
          <a:prstGeom prst="rect">
            <a:avLst/>
          </a:prstGeom>
          <a:noFill/>
          <a:ln/>
        </p:spPr>
        <p:txBody>
          <a:bodyPr wrap="square" lIns="0" tIns="0" rIns="0" bIns="0" rtlCol="0" anchor="ctr"/>
          <a:lstStyle/>
          <a:p>
            <a:pPr indent="0" marL="0">
              <a:lnSpc>
                <a:spcPct val="120000"/>
              </a:lnSpc>
              <a:buNone/>
            </a:pPr>
            <a:r>
              <a:rPr lang="en-US" sz="1300" dirty="0">
                <a:solidFill>
                  <a:srgbClr val="DCE3E9"/>
                </a:solidFill>
                <a:latin typeface="Calibri" pitchFamily="34" charset="0"/>
                <a:ea typeface="Calibri" pitchFamily="34" charset="-122"/>
                <a:cs typeface="Calibri" pitchFamily="34" charset="-120"/>
              </a:rPr>
              <a:t>Dealerships get consistent, evidence-backed decisions across every case.</a:t>
            </a:r>
            <a:endParaRPr lang="en-US" sz="1300" dirty="0"/>
          </a:p>
        </p:txBody>
      </p:sp>
      <p:sp>
        <p:nvSpPr>
          <p:cNvPr id="11" name="Shape 7"/>
          <p:cNvSpPr/>
          <p:nvPr/>
        </p:nvSpPr>
        <p:spPr>
          <a:xfrm>
            <a:off x="731520" y="4983480"/>
            <a:ext cx="457200" cy="457200"/>
          </a:xfrm>
          <a:prstGeom prst="ellipse">
            <a:avLst/>
          </a:prstGeom>
          <a:solidFill>
            <a:srgbClr val="F4A100"/>
          </a:solidFill>
          <a:ln/>
        </p:spPr>
      </p:sp>
      <p:pic>
        <p:nvPicPr>
          <p:cNvPr id="12" name="Image 2" descr="/home/claude/deck/icons/chart_steel.png">    </p:cNvPr>
          <p:cNvPicPr>
            <a:picLocks noChangeAspect="1"/>
          </p:cNvPicPr>
          <p:nvPr/>
        </p:nvPicPr>
        <p:blipFill>
          <a:blip r:embed="rId3"/>
          <a:stretch>
            <a:fillRect/>
          </a:stretch>
        </p:blipFill>
        <p:spPr>
          <a:xfrm>
            <a:off x="834390" y="5086350"/>
            <a:ext cx="251460" cy="251460"/>
          </a:xfrm>
          <a:prstGeom prst="rect">
            <a:avLst/>
          </a:prstGeom>
        </p:spPr>
      </p:pic>
      <p:sp>
        <p:nvSpPr>
          <p:cNvPr id="13" name="Text 8"/>
          <p:cNvSpPr/>
          <p:nvPr/>
        </p:nvSpPr>
        <p:spPr>
          <a:xfrm>
            <a:off x="1371600" y="4928616"/>
            <a:ext cx="6126480" cy="594360"/>
          </a:xfrm>
          <a:prstGeom prst="rect">
            <a:avLst/>
          </a:prstGeom>
          <a:noFill/>
          <a:ln/>
        </p:spPr>
        <p:txBody>
          <a:bodyPr wrap="square" lIns="0" tIns="0" rIns="0" bIns="0" rtlCol="0" anchor="ctr"/>
          <a:lstStyle/>
          <a:p>
            <a:pPr indent="0" marL="0">
              <a:lnSpc>
                <a:spcPct val="120000"/>
              </a:lnSpc>
              <a:buNone/>
            </a:pPr>
            <a:r>
              <a:rPr lang="en-US" sz="1300" dirty="0">
                <a:solidFill>
                  <a:srgbClr val="DCE3E9"/>
                </a:solidFill>
                <a:latin typeface="Calibri" pitchFamily="34" charset="0"/>
                <a:ea typeface="Calibri" pitchFamily="34" charset="-122"/>
                <a:cs typeface="Calibri" pitchFamily="34" charset="-120"/>
              </a:rPr>
              <a:t>Managers finally see patterns across 1,000 cases they could never read manually.</a:t>
            </a:r>
            <a:endParaRPr lang="en-US" sz="1300" dirty="0"/>
          </a:p>
        </p:txBody>
      </p:sp>
      <p:sp>
        <p:nvSpPr>
          <p:cNvPr id="14" name="Text 9"/>
          <p:cNvSpPr/>
          <p:nvPr/>
        </p:nvSpPr>
        <p:spPr>
          <a:xfrm>
            <a:off x="731520" y="5989320"/>
            <a:ext cx="5486400" cy="457200"/>
          </a:xfrm>
          <a:prstGeom prst="rect">
            <a:avLst/>
          </a:prstGeom>
          <a:noFill/>
          <a:ln/>
        </p:spPr>
        <p:txBody>
          <a:bodyPr wrap="square" lIns="0" tIns="0" rIns="0" bIns="0" rtlCol="0" anchor="ctr"/>
          <a:lstStyle/>
          <a:p>
            <a:pPr indent="0" marL="0">
              <a:buNone/>
            </a:pPr>
            <a:r>
              <a:rPr lang="en-US" sz="2000" b="1" dirty="0">
                <a:solidFill>
                  <a:srgbClr val="F4A100"/>
                </a:solidFill>
                <a:latin typeface="Cambria" pitchFamily="34" charset="0"/>
                <a:ea typeface="Cambria" pitchFamily="34" charset="-122"/>
                <a:cs typeface="Cambria" pitchFamily="34" charset="-120"/>
              </a:rPr>
              <a:t>Thank you.</a:t>
            </a:r>
            <a:endParaRPr lang="en-US" sz="2000" dirty="0"/>
          </a:p>
        </p:txBody>
      </p:sp>
      <p:sp>
        <p:nvSpPr>
          <p:cNvPr id="15" name="Text 10"/>
          <p:cNvSpPr/>
          <p:nvPr/>
        </p:nvSpPr>
        <p:spPr>
          <a:xfrm>
            <a:off x="731520" y="6446520"/>
            <a:ext cx="7315200" cy="320040"/>
          </a:xfrm>
          <a:prstGeom prst="rect">
            <a:avLst/>
          </a:prstGeom>
          <a:noFill/>
          <a:ln/>
        </p:spPr>
        <p:txBody>
          <a:bodyPr wrap="square" lIns="0" tIns="0" rIns="0" bIns="0" rtlCol="0" anchor="ctr"/>
          <a:lstStyle/>
          <a:p>
            <a:pPr indent="0" marL="0">
              <a:buNone/>
            </a:pPr>
            <a:r>
              <a:rPr lang="en-US" sz="1100" dirty="0">
                <a:solidFill>
                  <a:srgbClr val="8A98A5"/>
                </a:solidFill>
                <a:latin typeface="Calibri" pitchFamily="34" charset="0"/>
                <a:ea typeface="Calibri" pitchFamily="34" charset="-122"/>
                <a:cs typeface="Calibri" pitchFamily="34" charset="-120"/>
              </a:rPr>
              <a:t>UIC DAIL Hackathon  ·  Track B  ·  Questions welcome</a:t>
            </a:r>
            <a:endParaRPr lang="en-US" sz="1100" dirty="0"/>
          </a:p>
        </p:txBody>
      </p:sp>
      <p:sp>
        <p:nvSpPr>
          <p:cNvPr id="16" name="Shape 11"/>
          <p:cNvSpPr/>
          <p:nvPr/>
        </p:nvSpPr>
        <p:spPr>
          <a:xfrm>
            <a:off x="9692640" y="4709160"/>
            <a:ext cx="1828800" cy="1828800"/>
          </a:xfrm>
          <a:prstGeom prst="ellipse">
            <a:avLst/>
          </a:prstGeom>
          <a:solidFill>
            <a:srgbClr val="3E5C76"/>
          </a:solidFill>
          <a:ln/>
        </p:spPr>
      </p:sp>
      <p:pic>
        <p:nvPicPr>
          <p:cNvPr id="17" name="Image 3" descr="/home/claude/deck/icons/car_amber.png">    </p:cNvPr>
          <p:cNvPicPr>
            <a:picLocks noChangeAspect="1"/>
          </p:cNvPicPr>
          <p:nvPr/>
        </p:nvPicPr>
        <p:blipFill>
          <a:blip r:embed="rId4"/>
          <a:stretch>
            <a:fillRect/>
          </a:stretch>
        </p:blipFill>
        <p:spPr>
          <a:xfrm>
            <a:off x="10104120" y="5120640"/>
            <a:ext cx="1005840" cy="1005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2026-09-18T14:46:50Z</dcterms:created>
  <dcterms:modified xsi:type="dcterms:W3CDTF">2026-09-18T14:46:50Z</dcterms:modified>
</cp:coreProperties>
</file>